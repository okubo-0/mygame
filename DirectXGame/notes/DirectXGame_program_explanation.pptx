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9144000" cy="5715000" type="screen16x10"/>
  <p:notesSz cx="6858000" cy="9144000"/>
  <p:defaultTextStyle>
    <a:defPPr>
      <a:defRPr lang="ja-JP"/>
    </a:defPPr>
    <a:lvl1pPr marL="0" algn="l" defTabSz="713232" rtl="0" eaLnBrk="1" latinLnBrk="0" hangingPunct="1">
      <a:defRPr kumimoji="1" sz="1404" kern="1200">
        <a:solidFill>
          <a:schemeClr val="tx1"/>
        </a:solidFill>
        <a:latin typeface="+mn-lt"/>
        <a:ea typeface="+mn-ea"/>
        <a:cs typeface="+mn-cs"/>
      </a:defRPr>
    </a:lvl1pPr>
    <a:lvl2pPr marL="356616" algn="l" defTabSz="713232" rtl="0" eaLnBrk="1" latinLnBrk="0" hangingPunct="1">
      <a:defRPr kumimoji="1" sz="1404" kern="1200">
        <a:solidFill>
          <a:schemeClr val="tx1"/>
        </a:solidFill>
        <a:latin typeface="+mn-lt"/>
        <a:ea typeface="+mn-ea"/>
        <a:cs typeface="+mn-cs"/>
      </a:defRPr>
    </a:lvl2pPr>
    <a:lvl3pPr marL="713232" algn="l" defTabSz="713232" rtl="0" eaLnBrk="1" latinLnBrk="0" hangingPunct="1">
      <a:defRPr kumimoji="1" sz="1404" kern="1200">
        <a:solidFill>
          <a:schemeClr val="tx1"/>
        </a:solidFill>
        <a:latin typeface="+mn-lt"/>
        <a:ea typeface="+mn-ea"/>
        <a:cs typeface="+mn-cs"/>
      </a:defRPr>
    </a:lvl3pPr>
    <a:lvl4pPr marL="1069848" algn="l" defTabSz="713232" rtl="0" eaLnBrk="1" latinLnBrk="0" hangingPunct="1">
      <a:defRPr kumimoji="1" sz="1404" kern="1200">
        <a:solidFill>
          <a:schemeClr val="tx1"/>
        </a:solidFill>
        <a:latin typeface="+mn-lt"/>
        <a:ea typeface="+mn-ea"/>
        <a:cs typeface="+mn-cs"/>
      </a:defRPr>
    </a:lvl4pPr>
    <a:lvl5pPr marL="1426464" algn="l" defTabSz="713232" rtl="0" eaLnBrk="1" latinLnBrk="0" hangingPunct="1">
      <a:defRPr kumimoji="1" sz="1404" kern="1200">
        <a:solidFill>
          <a:schemeClr val="tx1"/>
        </a:solidFill>
        <a:latin typeface="+mn-lt"/>
        <a:ea typeface="+mn-ea"/>
        <a:cs typeface="+mn-cs"/>
      </a:defRPr>
    </a:lvl5pPr>
    <a:lvl6pPr marL="1783080" algn="l" defTabSz="713232" rtl="0" eaLnBrk="1" latinLnBrk="0" hangingPunct="1">
      <a:defRPr kumimoji="1" sz="1404" kern="1200">
        <a:solidFill>
          <a:schemeClr val="tx1"/>
        </a:solidFill>
        <a:latin typeface="+mn-lt"/>
        <a:ea typeface="+mn-ea"/>
        <a:cs typeface="+mn-cs"/>
      </a:defRPr>
    </a:lvl6pPr>
    <a:lvl7pPr marL="2139696" algn="l" defTabSz="713232" rtl="0" eaLnBrk="1" latinLnBrk="0" hangingPunct="1">
      <a:defRPr kumimoji="1" sz="1404" kern="1200">
        <a:solidFill>
          <a:schemeClr val="tx1"/>
        </a:solidFill>
        <a:latin typeface="+mn-lt"/>
        <a:ea typeface="+mn-ea"/>
        <a:cs typeface="+mn-cs"/>
      </a:defRPr>
    </a:lvl7pPr>
    <a:lvl8pPr marL="2496312" algn="l" defTabSz="713232" rtl="0" eaLnBrk="1" latinLnBrk="0" hangingPunct="1">
      <a:defRPr kumimoji="1" sz="1404" kern="1200">
        <a:solidFill>
          <a:schemeClr val="tx1"/>
        </a:solidFill>
        <a:latin typeface="+mn-lt"/>
        <a:ea typeface="+mn-ea"/>
        <a:cs typeface="+mn-cs"/>
      </a:defRPr>
    </a:lvl8pPr>
    <a:lvl9pPr marL="2852928" algn="l" defTabSz="713232" rtl="0" eaLnBrk="1" latinLnBrk="0" hangingPunct="1">
      <a:defRPr kumimoji="1" sz="1404"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2" d="100"/>
          <a:sy n="122" d="100"/>
        </p:scale>
        <p:origin x="90" y="-1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ADF0BE-DCE3-A557-8F3B-8884F6422BDB}"/>
              </a:ext>
            </a:extLst>
          </p:cNvPr>
          <p:cNvSpPr>
            <a:spLocks noGrp="1"/>
          </p:cNvSpPr>
          <p:nvPr>
            <p:ph type="ctrTitle"/>
          </p:nvPr>
        </p:nvSpPr>
        <p:spPr>
          <a:xfrm>
            <a:off x="1143000" y="935302"/>
            <a:ext cx="6858000" cy="1989667"/>
          </a:xfrm>
        </p:spPr>
        <p:txBody>
          <a:bodyPr anchor="b"/>
          <a:lstStyle>
            <a:lvl1pPr algn="ctr">
              <a:defRPr sz="45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023BA75-4AFE-D1E4-012A-B0E9555AF396}"/>
              </a:ext>
            </a:extLst>
          </p:cNvPr>
          <p:cNvSpPr>
            <a:spLocks noGrp="1"/>
          </p:cNvSpPr>
          <p:nvPr>
            <p:ph type="subTitle" idx="1"/>
          </p:nvPr>
        </p:nvSpPr>
        <p:spPr>
          <a:xfrm>
            <a:off x="1143000" y="3001698"/>
            <a:ext cx="6858000" cy="137980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76E9BC7-2E3A-7DE0-A150-DA7926948349}"/>
              </a:ext>
            </a:extLst>
          </p:cNvPr>
          <p:cNvSpPr>
            <a:spLocks noGrp="1"/>
          </p:cNvSpPr>
          <p:nvPr>
            <p:ph type="dt" sz="half" idx="10"/>
          </p:nvPr>
        </p:nvSpPr>
        <p:spPr/>
        <p:txBody>
          <a:bodyPr/>
          <a:lstStyle/>
          <a:p>
            <a:fld id="{1B483A5D-3F1A-4FD7-B88E-7B6BD11E44CC}" type="datetimeFigureOut">
              <a:rPr kumimoji="1" lang="ja-JP" altLang="en-US" smtClean="0"/>
              <a:t>2026/4/16</a:t>
            </a:fld>
            <a:endParaRPr kumimoji="1" lang="ja-JP" altLang="en-US"/>
          </a:p>
        </p:txBody>
      </p:sp>
      <p:sp>
        <p:nvSpPr>
          <p:cNvPr id="5" name="フッター プレースホルダー 4">
            <a:extLst>
              <a:ext uri="{FF2B5EF4-FFF2-40B4-BE49-F238E27FC236}">
                <a16:creationId xmlns:a16="http://schemas.microsoft.com/office/drawing/2014/main" id="{F1079395-6D72-F37C-2D8D-FDC42074CEE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2B0CDCD-DB27-9225-E3B4-B42C032D8C71}"/>
              </a:ext>
            </a:extLst>
          </p:cNvPr>
          <p:cNvSpPr>
            <a:spLocks noGrp="1"/>
          </p:cNvSpPr>
          <p:nvPr>
            <p:ph type="sldNum" sz="quarter" idx="12"/>
          </p:nvPr>
        </p:nvSpPr>
        <p:spPr/>
        <p:txBody>
          <a:bodyPr/>
          <a:lstStyle/>
          <a:p>
            <a:fld id="{1726BD64-CA78-4FA3-BCB2-EC7E5120D72F}" type="slidenum">
              <a:rPr kumimoji="1" lang="ja-JP" altLang="en-US" smtClean="0"/>
              <a:t>‹#›</a:t>
            </a:fld>
            <a:endParaRPr kumimoji="1" lang="ja-JP" altLang="en-US"/>
          </a:p>
        </p:txBody>
      </p:sp>
    </p:spTree>
    <p:extLst>
      <p:ext uri="{BB962C8B-B14F-4D97-AF65-F5344CB8AC3E}">
        <p14:creationId xmlns:p14="http://schemas.microsoft.com/office/powerpoint/2010/main" val="721346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F4D7A3-98EF-8E0A-7316-325566635D5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7D1F323-44EE-6F87-19C3-F80D1C12C537}"/>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D897D2A-CCB4-A31D-26EA-16534A9A49BB}"/>
              </a:ext>
            </a:extLst>
          </p:cNvPr>
          <p:cNvSpPr>
            <a:spLocks noGrp="1"/>
          </p:cNvSpPr>
          <p:nvPr>
            <p:ph type="dt" sz="half" idx="10"/>
          </p:nvPr>
        </p:nvSpPr>
        <p:spPr/>
        <p:txBody>
          <a:bodyPr/>
          <a:lstStyle/>
          <a:p>
            <a:fld id="{1B483A5D-3F1A-4FD7-B88E-7B6BD11E44CC}" type="datetimeFigureOut">
              <a:rPr kumimoji="1" lang="ja-JP" altLang="en-US" smtClean="0"/>
              <a:t>2026/4/16</a:t>
            </a:fld>
            <a:endParaRPr kumimoji="1" lang="ja-JP" altLang="en-US"/>
          </a:p>
        </p:txBody>
      </p:sp>
      <p:sp>
        <p:nvSpPr>
          <p:cNvPr id="5" name="フッター プレースホルダー 4">
            <a:extLst>
              <a:ext uri="{FF2B5EF4-FFF2-40B4-BE49-F238E27FC236}">
                <a16:creationId xmlns:a16="http://schemas.microsoft.com/office/drawing/2014/main" id="{325E3BAF-841D-FC67-26C0-4824012F8EB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1DA91D0-34BF-A98A-4045-D7E7B6E80D1B}"/>
              </a:ext>
            </a:extLst>
          </p:cNvPr>
          <p:cNvSpPr>
            <a:spLocks noGrp="1"/>
          </p:cNvSpPr>
          <p:nvPr>
            <p:ph type="sldNum" sz="quarter" idx="12"/>
          </p:nvPr>
        </p:nvSpPr>
        <p:spPr/>
        <p:txBody>
          <a:bodyPr/>
          <a:lstStyle/>
          <a:p>
            <a:fld id="{1726BD64-CA78-4FA3-BCB2-EC7E5120D72F}" type="slidenum">
              <a:rPr kumimoji="1" lang="ja-JP" altLang="en-US" smtClean="0"/>
              <a:t>‹#›</a:t>
            </a:fld>
            <a:endParaRPr kumimoji="1" lang="ja-JP" altLang="en-US"/>
          </a:p>
        </p:txBody>
      </p:sp>
    </p:spTree>
    <p:extLst>
      <p:ext uri="{BB962C8B-B14F-4D97-AF65-F5344CB8AC3E}">
        <p14:creationId xmlns:p14="http://schemas.microsoft.com/office/powerpoint/2010/main" val="3503599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37F6B4-81E1-1BA0-657F-65C6959BE686}"/>
              </a:ext>
            </a:extLst>
          </p:cNvPr>
          <p:cNvSpPr>
            <a:spLocks noGrp="1"/>
          </p:cNvSpPr>
          <p:nvPr>
            <p:ph type="title"/>
          </p:nvPr>
        </p:nvSpPr>
        <p:spPr>
          <a:xfrm>
            <a:off x="623888" y="1424782"/>
            <a:ext cx="7886700" cy="2377281"/>
          </a:xfrm>
        </p:spPr>
        <p:txBody>
          <a:bodyPr anchor="b"/>
          <a:lstStyle>
            <a:lvl1pPr>
              <a:defRPr sz="45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CE08FC-D895-4CE7-EE2A-789F5D21430E}"/>
              </a:ext>
            </a:extLst>
          </p:cNvPr>
          <p:cNvSpPr>
            <a:spLocks noGrp="1"/>
          </p:cNvSpPr>
          <p:nvPr>
            <p:ph type="body" idx="1"/>
          </p:nvPr>
        </p:nvSpPr>
        <p:spPr>
          <a:xfrm>
            <a:off x="623888" y="3824553"/>
            <a:ext cx="7886700" cy="1250156"/>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EAA9E23-B496-9E33-5361-AEBF0F40D403}"/>
              </a:ext>
            </a:extLst>
          </p:cNvPr>
          <p:cNvSpPr>
            <a:spLocks noGrp="1"/>
          </p:cNvSpPr>
          <p:nvPr>
            <p:ph type="dt" sz="half" idx="10"/>
          </p:nvPr>
        </p:nvSpPr>
        <p:spPr/>
        <p:txBody>
          <a:bodyPr/>
          <a:lstStyle/>
          <a:p>
            <a:fld id="{1B483A5D-3F1A-4FD7-B88E-7B6BD11E44CC}" type="datetimeFigureOut">
              <a:rPr kumimoji="1" lang="ja-JP" altLang="en-US" smtClean="0"/>
              <a:t>2026/4/16</a:t>
            </a:fld>
            <a:endParaRPr kumimoji="1" lang="ja-JP" altLang="en-US"/>
          </a:p>
        </p:txBody>
      </p:sp>
      <p:sp>
        <p:nvSpPr>
          <p:cNvPr id="5" name="フッター プレースホルダー 4">
            <a:extLst>
              <a:ext uri="{FF2B5EF4-FFF2-40B4-BE49-F238E27FC236}">
                <a16:creationId xmlns:a16="http://schemas.microsoft.com/office/drawing/2014/main" id="{0C69B3CA-9828-3F3F-D0C8-6B1020ACD95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902B175-632A-076D-8F25-430C5414022F}"/>
              </a:ext>
            </a:extLst>
          </p:cNvPr>
          <p:cNvSpPr>
            <a:spLocks noGrp="1"/>
          </p:cNvSpPr>
          <p:nvPr>
            <p:ph type="sldNum" sz="quarter" idx="12"/>
          </p:nvPr>
        </p:nvSpPr>
        <p:spPr/>
        <p:txBody>
          <a:bodyPr/>
          <a:lstStyle/>
          <a:p>
            <a:fld id="{1726BD64-CA78-4FA3-BCB2-EC7E5120D72F}" type="slidenum">
              <a:rPr kumimoji="1" lang="ja-JP" altLang="en-US" smtClean="0"/>
              <a:t>‹#›</a:t>
            </a:fld>
            <a:endParaRPr kumimoji="1" lang="ja-JP" altLang="en-US"/>
          </a:p>
        </p:txBody>
      </p:sp>
    </p:spTree>
    <p:extLst>
      <p:ext uri="{BB962C8B-B14F-4D97-AF65-F5344CB8AC3E}">
        <p14:creationId xmlns:p14="http://schemas.microsoft.com/office/powerpoint/2010/main" val="3734910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F1C055-D289-A37E-C3D0-98E17A76E7D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1DBD30C-B666-A50E-2A0A-F3CC8F3EE603}"/>
              </a:ext>
            </a:extLst>
          </p:cNvPr>
          <p:cNvSpPr>
            <a:spLocks noGrp="1"/>
          </p:cNvSpPr>
          <p:nvPr>
            <p:ph sz="half" idx="1"/>
          </p:nvPr>
        </p:nvSpPr>
        <p:spPr>
          <a:xfrm>
            <a:off x="628650" y="1521354"/>
            <a:ext cx="3886200" cy="3626115"/>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B440861-0B6D-7A92-7D80-8373DDF3946E}"/>
              </a:ext>
            </a:extLst>
          </p:cNvPr>
          <p:cNvSpPr>
            <a:spLocks noGrp="1"/>
          </p:cNvSpPr>
          <p:nvPr>
            <p:ph sz="half" idx="2"/>
          </p:nvPr>
        </p:nvSpPr>
        <p:spPr>
          <a:xfrm>
            <a:off x="4629150" y="1521354"/>
            <a:ext cx="3886200" cy="3626115"/>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38ECE7C-764A-8CEB-F6D6-382F28E0D55F}"/>
              </a:ext>
            </a:extLst>
          </p:cNvPr>
          <p:cNvSpPr>
            <a:spLocks noGrp="1"/>
          </p:cNvSpPr>
          <p:nvPr>
            <p:ph type="dt" sz="half" idx="10"/>
          </p:nvPr>
        </p:nvSpPr>
        <p:spPr/>
        <p:txBody>
          <a:bodyPr/>
          <a:lstStyle/>
          <a:p>
            <a:fld id="{1B483A5D-3F1A-4FD7-B88E-7B6BD11E44CC}" type="datetimeFigureOut">
              <a:rPr kumimoji="1" lang="ja-JP" altLang="en-US" smtClean="0"/>
              <a:t>2026/4/16</a:t>
            </a:fld>
            <a:endParaRPr kumimoji="1" lang="ja-JP" altLang="en-US"/>
          </a:p>
        </p:txBody>
      </p:sp>
      <p:sp>
        <p:nvSpPr>
          <p:cNvPr id="6" name="フッター プレースホルダー 5">
            <a:extLst>
              <a:ext uri="{FF2B5EF4-FFF2-40B4-BE49-F238E27FC236}">
                <a16:creationId xmlns:a16="http://schemas.microsoft.com/office/drawing/2014/main" id="{0DB3BEB3-9B67-2EDB-8816-B25FF378857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6E8BA7E-50A4-E7B2-250A-A857FA234659}"/>
              </a:ext>
            </a:extLst>
          </p:cNvPr>
          <p:cNvSpPr>
            <a:spLocks noGrp="1"/>
          </p:cNvSpPr>
          <p:nvPr>
            <p:ph type="sldNum" sz="quarter" idx="12"/>
          </p:nvPr>
        </p:nvSpPr>
        <p:spPr/>
        <p:txBody>
          <a:bodyPr/>
          <a:lstStyle/>
          <a:p>
            <a:fld id="{1726BD64-CA78-4FA3-BCB2-EC7E5120D72F}" type="slidenum">
              <a:rPr kumimoji="1" lang="ja-JP" altLang="en-US" smtClean="0"/>
              <a:t>‹#›</a:t>
            </a:fld>
            <a:endParaRPr kumimoji="1" lang="ja-JP" altLang="en-US"/>
          </a:p>
        </p:txBody>
      </p:sp>
    </p:spTree>
    <p:extLst>
      <p:ext uri="{BB962C8B-B14F-4D97-AF65-F5344CB8AC3E}">
        <p14:creationId xmlns:p14="http://schemas.microsoft.com/office/powerpoint/2010/main" val="20648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8CC01A-8648-4F5E-8329-B0D70B525097}"/>
              </a:ext>
            </a:extLst>
          </p:cNvPr>
          <p:cNvSpPr>
            <a:spLocks noGrp="1"/>
          </p:cNvSpPr>
          <p:nvPr>
            <p:ph type="title"/>
          </p:nvPr>
        </p:nvSpPr>
        <p:spPr>
          <a:xfrm>
            <a:off x="629841" y="304271"/>
            <a:ext cx="7886700" cy="1104636"/>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27A8D77-16F0-8A5F-9AA9-A1FA43E16833}"/>
              </a:ext>
            </a:extLst>
          </p:cNvPr>
          <p:cNvSpPr>
            <a:spLocks noGrp="1"/>
          </p:cNvSpPr>
          <p:nvPr>
            <p:ph type="body" idx="1"/>
          </p:nvPr>
        </p:nvSpPr>
        <p:spPr>
          <a:xfrm>
            <a:off x="629842" y="1400969"/>
            <a:ext cx="3868340"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DB683DF-D384-E24C-2567-D7310205F090}"/>
              </a:ext>
            </a:extLst>
          </p:cNvPr>
          <p:cNvSpPr>
            <a:spLocks noGrp="1"/>
          </p:cNvSpPr>
          <p:nvPr>
            <p:ph sz="half" idx="2"/>
          </p:nvPr>
        </p:nvSpPr>
        <p:spPr>
          <a:xfrm>
            <a:off x="629842" y="2087563"/>
            <a:ext cx="3868340" cy="307049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52711861-BC72-E7D9-506F-9B1E9D8EA639}"/>
              </a:ext>
            </a:extLst>
          </p:cNvPr>
          <p:cNvSpPr>
            <a:spLocks noGrp="1"/>
          </p:cNvSpPr>
          <p:nvPr>
            <p:ph type="body" sz="quarter" idx="3"/>
          </p:nvPr>
        </p:nvSpPr>
        <p:spPr>
          <a:xfrm>
            <a:off x="4629150" y="1400969"/>
            <a:ext cx="3887391"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A5CDEC8-3088-775C-2D0B-920C525118A0}"/>
              </a:ext>
            </a:extLst>
          </p:cNvPr>
          <p:cNvSpPr>
            <a:spLocks noGrp="1"/>
          </p:cNvSpPr>
          <p:nvPr>
            <p:ph sz="quarter" idx="4"/>
          </p:nvPr>
        </p:nvSpPr>
        <p:spPr>
          <a:xfrm>
            <a:off x="4629150" y="2087563"/>
            <a:ext cx="3887391" cy="307049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546BAE5-3F95-326E-48B8-CCA451809774}"/>
              </a:ext>
            </a:extLst>
          </p:cNvPr>
          <p:cNvSpPr>
            <a:spLocks noGrp="1"/>
          </p:cNvSpPr>
          <p:nvPr>
            <p:ph type="dt" sz="half" idx="10"/>
          </p:nvPr>
        </p:nvSpPr>
        <p:spPr/>
        <p:txBody>
          <a:bodyPr/>
          <a:lstStyle/>
          <a:p>
            <a:fld id="{1B483A5D-3F1A-4FD7-B88E-7B6BD11E44CC}" type="datetimeFigureOut">
              <a:rPr kumimoji="1" lang="ja-JP" altLang="en-US" smtClean="0"/>
              <a:t>2026/4/16</a:t>
            </a:fld>
            <a:endParaRPr kumimoji="1" lang="ja-JP" altLang="en-US"/>
          </a:p>
        </p:txBody>
      </p:sp>
      <p:sp>
        <p:nvSpPr>
          <p:cNvPr id="8" name="フッター プレースホルダー 7">
            <a:extLst>
              <a:ext uri="{FF2B5EF4-FFF2-40B4-BE49-F238E27FC236}">
                <a16:creationId xmlns:a16="http://schemas.microsoft.com/office/drawing/2014/main" id="{E35286F5-9965-43A4-0960-CA983E46123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624D1E22-239D-D467-0CDE-FB25CDB7B444}"/>
              </a:ext>
            </a:extLst>
          </p:cNvPr>
          <p:cNvSpPr>
            <a:spLocks noGrp="1"/>
          </p:cNvSpPr>
          <p:nvPr>
            <p:ph type="sldNum" sz="quarter" idx="12"/>
          </p:nvPr>
        </p:nvSpPr>
        <p:spPr/>
        <p:txBody>
          <a:bodyPr/>
          <a:lstStyle/>
          <a:p>
            <a:fld id="{1726BD64-CA78-4FA3-BCB2-EC7E5120D72F}" type="slidenum">
              <a:rPr kumimoji="1" lang="ja-JP" altLang="en-US" smtClean="0"/>
              <a:t>‹#›</a:t>
            </a:fld>
            <a:endParaRPr kumimoji="1" lang="ja-JP" altLang="en-US"/>
          </a:p>
        </p:txBody>
      </p:sp>
    </p:spTree>
    <p:extLst>
      <p:ext uri="{BB962C8B-B14F-4D97-AF65-F5344CB8AC3E}">
        <p14:creationId xmlns:p14="http://schemas.microsoft.com/office/powerpoint/2010/main" val="3678442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3372F7-F9B5-05E9-C367-8C7234B434E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4CD7EE9-F4F5-6FC0-1440-852BF282882E}"/>
              </a:ext>
            </a:extLst>
          </p:cNvPr>
          <p:cNvSpPr>
            <a:spLocks noGrp="1"/>
          </p:cNvSpPr>
          <p:nvPr>
            <p:ph type="dt" sz="half" idx="10"/>
          </p:nvPr>
        </p:nvSpPr>
        <p:spPr/>
        <p:txBody>
          <a:bodyPr/>
          <a:lstStyle/>
          <a:p>
            <a:fld id="{1B483A5D-3F1A-4FD7-B88E-7B6BD11E44CC}" type="datetimeFigureOut">
              <a:rPr kumimoji="1" lang="ja-JP" altLang="en-US" smtClean="0"/>
              <a:t>2026/4/16</a:t>
            </a:fld>
            <a:endParaRPr kumimoji="1" lang="ja-JP" altLang="en-US"/>
          </a:p>
        </p:txBody>
      </p:sp>
      <p:sp>
        <p:nvSpPr>
          <p:cNvPr id="4" name="フッター プレースホルダー 3">
            <a:extLst>
              <a:ext uri="{FF2B5EF4-FFF2-40B4-BE49-F238E27FC236}">
                <a16:creationId xmlns:a16="http://schemas.microsoft.com/office/drawing/2014/main" id="{2D5B5CA5-228E-53FE-4A0A-0F2082C9B5C1}"/>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2BE5F83-A66C-778E-A096-49B3BEA7E349}"/>
              </a:ext>
            </a:extLst>
          </p:cNvPr>
          <p:cNvSpPr>
            <a:spLocks noGrp="1"/>
          </p:cNvSpPr>
          <p:nvPr>
            <p:ph type="sldNum" sz="quarter" idx="12"/>
          </p:nvPr>
        </p:nvSpPr>
        <p:spPr/>
        <p:txBody>
          <a:bodyPr/>
          <a:lstStyle/>
          <a:p>
            <a:fld id="{1726BD64-CA78-4FA3-BCB2-EC7E5120D72F}" type="slidenum">
              <a:rPr kumimoji="1" lang="ja-JP" altLang="en-US" smtClean="0"/>
              <a:t>‹#›</a:t>
            </a:fld>
            <a:endParaRPr kumimoji="1" lang="ja-JP" altLang="en-US"/>
          </a:p>
        </p:txBody>
      </p:sp>
    </p:spTree>
    <p:extLst>
      <p:ext uri="{BB962C8B-B14F-4D97-AF65-F5344CB8AC3E}">
        <p14:creationId xmlns:p14="http://schemas.microsoft.com/office/powerpoint/2010/main" val="2671680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FF5AB5E-A61C-9A06-7DEF-80F279536C39}"/>
              </a:ext>
            </a:extLst>
          </p:cNvPr>
          <p:cNvSpPr>
            <a:spLocks noGrp="1"/>
          </p:cNvSpPr>
          <p:nvPr>
            <p:ph type="dt" sz="half" idx="10"/>
          </p:nvPr>
        </p:nvSpPr>
        <p:spPr/>
        <p:txBody>
          <a:bodyPr/>
          <a:lstStyle/>
          <a:p>
            <a:fld id="{1B483A5D-3F1A-4FD7-B88E-7B6BD11E44CC}" type="datetimeFigureOut">
              <a:rPr kumimoji="1" lang="ja-JP" altLang="en-US" smtClean="0"/>
              <a:t>2026/4/16</a:t>
            </a:fld>
            <a:endParaRPr kumimoji="1" lang="ja-JP" altLang="en-US"/>
          </a:p>
        </p:txBody>
      </p:sp>
      <p:sp>
        <p:nvSpPr>
          <p:cNvPr id="3" name="フッター プレースホルダー 2">
            <a:extLst>
              <a:ext uri="{FF2B5EF4-FFF2-40B4-BE49-F238E27FC236}">
                <a16:creationId xmlns:a16="http://schemas.microsoft.com/office/drawing/2014/main" id="{E66DB507-A176-BB96-7B39-5C5E9E6C1F7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0A9C08B-4362-A006-903D-6073E0D53881}"/>
              </a:ext>
            </a:extLst>
          </p:cNvPr>
          <p:cNvSpPr>
            <a:spLocks noGrp="1"/>
          </p:cNvSpPr>
          <p:nvPr>
            <p:ph type="sldNum" sz="quarter" idx="12"/>
          </p:nvPr>
        </p:nvSpPr>
        <p:spPr/>
        <p:txBody>
          <a:bodyPr/>
          <a:lstStyle/>
          <a:p>
            <a:fld id="{1726BD64-CA78-4FA3-BCB2-EC7E5120D72F}" type="slidenum">
              <a:rPr kumimoji="1" lang="ja-JP" altLang="en-US" smtClean="0"/>
              <a:t>‹#›</a:t>
            </a:fld>
            <a:endParaRPr kumimoji="1" lang="ja-JP" altLang="en-US"/>
          </a:p>
        </p:txBody>
      </p:sp>
    </p:spTree>
    <p:extLst>
      <p:ext uri="{BB962C8B-B14F-4D97-AF65-F5344CB8AC3E}">
        <p14:creationId xmlns:p14="http://schemas.microsoft.com/office/powerpoint/2010/main" val="2060608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3C9BFF-3BCD-00B7-6CA7-7B4E24B55070}"/>
              </a:ext>
            </a:extLst>
          </p:cNvPr>
          <p:cNvSpPr>
            <a:spLocks noGrp="1"/>
          </p:cNvSpPr>
          <p:nvPr>
            <p:ph type="title"/>
          </p:nvPr>
        </p:nvSpPr>
        <p:spPr>
          <a:xfrm>
            <a:off x="629841" y="381000"/>
            <a:ext cx="2949178" cy="1333500"/>
          </a:xfrm>
        </p:spPr>
        <p:txBody>
          <a:bodyPr anchor="b"/>
          <a:lstStyle>
            <a:lvl1pPr>
              <a:defRPr sz="24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DE2D8A0-2FBE-91E4-7015-86EBC0BD3CB9}"/>
              </a:ext>
            </a:extLst>
          </p:cNvPr>
          <p:cNvSpPr>
            <a:spLocks noGrp="1"/>
          </p:cNvSpPr>
          <p:nvPr>
            <p:ph idx="1"/>
          </p:nvPr>
        </p:nvSpPr>
        <p:spPr>
          <a:xfrm>
            <a:off x="3887391" y="822855"/>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2DD17E6-565E-796D-14A6-2CB2E35793AE}"/>
              </a:ext>
            </a:extLst>
          </p:cNvPr>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D3A01F7-C760-0851-2E69-CC10CE91B966}"/>
              </a:ext>
            </a:extLst>
          </p:cNvPr>
          <p:cNvSpPr>
            <a:spLocks noGrp="1"/>
          </p:cNvSpPr>
          <p:nvPr>
            <p:ph type="dt" sz="half" idx="10"/>
          </p:nvPr>
        </p:nvSpPr>
        <p:spPr/>
        <p:txBody>
          <a:bodyPr/>
          <a:lstStyle/>
          <a:p>
            <a:fld id="{1B483A5D-3F1A-4FD7-B88E-7B6BD11E44CC}" type="datetimeFigureOut">
              <a:rPr kumimoji="1" lang="ja-JP" altLang="en-US" smtClean="0"/>
              <a:t>2026/4/16</a:t>
            </a:fld>
            <a:endParaRPr kumimoji="1" lang="ja-JP" altLang="en-US"/>
          </a:p>
        </p:txBody>
      </p:sp>
      <p:sp>
        <p:nvSpPr>
          <p:cNvPr id="6" name="フッター プレースホルダー 5">
            <a:extLst>
              <a:ext uri="{FF2B5EF4-FFF2-40B4-BE49-F238E27FC236}">
                <a16:creationId xmlns:a16="http://schemas.microsoft.com/office/drawing/2014/main" id="{5753D9D7-D86A-F216-5C0F-170F6A71E6B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D9E6E79-0104-9554-F5DC-706BA1C0A5C7}"/>
              </a:ext>
            </a:extLst>
          </p:cNvPr>
          <p:cNvSpPr>
            <a:spLocks noGrp="1"/>
          </p:cNvSpPr>
          <p:nvPr>
            <p:ph type="sldNum" sz="quarter" idx="12"/>
          </p:nvPr>
        </p:nvSpPr>
        <p:spPr/>
        <p:txBody>
          <a:bodyPr/>
          <a:lstStyle/>
          <a:p>
            <a:fld id="{1726BD64-CA78-4FA3-BCB2-EC7E5120D72F}" type="slidenum">
              <a:rPr kumimoji="1" lang="ja-JP" altLang="en-US" smtClean="0"/>
              <a:t>‹#›</a:t>
            </a:fld>
            <a:endParaRPr kumimoji="1" lang="ja-JP" altLang="en-US"/>
          </a:p>
        </p:txBody>
      </p:sp>
    </p:spTree>
    <p:extLst>
      <p:ext uri="{BB962C8B-B14F-4D97-AF65-F5344CB8AC3E}">
        <p14:creationId xmlns:p14="http://schemas.microsoft.com/office/powerpoint/2010/main" val="162260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8D7A47-4D92-0D3E-C0BD-0F478C05D372}"/>
              </a:ext>
            </a:extLst>
          </p:cNvPr>
          <p:cNvSpPr>
            <a:spLocks noGrp="1"/>
          </p:cNvSpPr>
          <p:nvPr>
            <p:ph type="title"/>
          </p:nvPr>
        </p:nvSpPr>
        <p:spPr>
          <a:xfrm>
            <a:off x="629841" y="381000"/>
            <a:ext cx="2949178" cy="1333500"/>
          </a:xfrm>
        </p:spPr>
        <p:txBody>
          <a:bodyPr anchor="b"/>
          <a:lstStyle>
            <a:lvl1pPr>
              <a:defRPr sz="24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5F12028-2A65-2D9C-6E13-EF340322B036}"/>
              </a:ext>
            </a:extLst>
          </p:cNvPr>
          <p:cNvSpPr>
            <a:spLocks noGrp="1"/>
          </p:cNvSpPr>
          <p:nvPr>
            <p:ph type="pic" idx="1"/>
          </p:nvPr>
        </p:nvSpPr>
        <p:spPr>
          <a:xfrm>
            <a:off x="3887391" y="822855"/>
            <a:ext cx="4629150" cy="4061354"/>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kumimoji="1" lang="ja-JP" altLang="en-US"/>
          </a:p>
        </p:txBody>
      </p:sp>
      <p:sp>
        <p:nvSpPr>
          <p:cNvPr id="4" name="テキスト プレースホルダー 3">
            <a:extLst>
              <a:ext uri="{FF2B5EF4-FFF2-40B4-BE49-F238E27FC236}">
                <a16:creationId xmlns:a16="http://schemas.microsoft.com/office/drawing/2014/main" id="{E5B9CEC5-7381-BB73-B09D-A15D43D9DD76}"/>
              </a:ext>
            </a:extLst>
          </p:cNvPr>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43E2EAA-EAA4-F982-4BB9-E898286F5781}"/>
              </a:ext>
            </a:extLst>
          </p:cNvPr>
          <p:cNvSpPr>
            <a:spLocks noGrp="1"/>
          </p:cNvSpPr>
          <p:nvPr>
            <p:ph type="dt" sz="half" idx="10"/>
          </p:nvPr>
        </p:nvSpPr>
        <p:spPr/>
        <p:txBody>
          <a:bodyPr/>
          <a:lstStyle/>
          <a:p>
            <a:fld id="{1B483A5D-3F1A-4FD7-B88E-7B6BD11E44CC}" type="datetimeFigureOut">
              <a:rPr kumimoji="1" lang="ja-JP" altLang="en-US" smtClean="0"/>
              <a:t>2026/4/16</a:t>
            </a:fld>
            <a:endParaRPr kumimoji="1" lang="ja-JP" altLang="en-US"/>
          </a:p>
        </p:txBody>
      </p:sp>
      <p:sp>
        <p:nvSpPr>
          <p:cNvPr id="6" name="フッター プレースホルダー 5">
            <a:extLst>
              <a:ext uri="{FF2B5EF4-FFF2-40B4-BE49-F238E27FC236}">
                <a16:creationId xmlns:a16="http://schemas.microsoft.com/office/drawing/2014/main" id="{6BF24D5E-2834-AE06-D870-1EBF67435AC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BC32CAD-B291-3BE8-8885-2BD5014DC929}"/>
              </a:ext>
            </a:extLst>
          </p:cNvPr>
          <p:cNvSpPr>
            <a:spLocks noGrp="1"/>
          </p:cNvSpPr>
          <p:nvPr>
            <p:ph type="sldNum" sz="quarter" idx="12"/>
          </p:nvPr>
        </p:nvSpPr>
        <p:spPr/>
        <p:txBody>
          <a:bodyPr/>
          <a:lstStyle/>
          <a:p>
            <a:fld id="{1726BD64-CA78-4FA3-BCB2-EC7E5120D72F}" type="slidenum">
              <a:rPr kumimoji="1" lang="ja-JP" altLang="en-US" smtClean="0"/>
              <a:t>‹#›</a:t>
            </a:fld>
            <a:endParaRPr kumimoji="1" lang="ja-JP" altLang="en-US"/>
          </a:p>
        </p:txBody>
      </p:sp>
    </p:spTree>
    <p:extLst>
      <p:ext uri="{BB962C8B-B14F-4D97-AF65-F5344CB8AC3E}">
        <p14:creationId xmlns:p14="http://schemas.microsoft.com/office/powerpoint/2010/main" val="3098455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924D8F-B370-DDFC-E926-12281761558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41106ED-E853-691D-FDE5-76EFA8E89D92}"/>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3E4551C-E24E-55A2-9FD6-60D68C19667B}"/>
              </a:ext>
            </a:extLst>
          </p:cNvPr>
          <p:cNvSpPr>
            <a:spLocks noGrp="1"/>
          </p:cNvSpPr>
          <p:nvPr>
            <p:ph type="dt" sz="half" idx="10"/>
          </p:nvPr>
        </p:nvSpPr>
        <p:spPr/>
        <p:txBody>
          <a:bodyPr/>
          <a:lstStyle/>
          <a:p>
            <a:fld id="{1B483A5D-3F1A-4FD7-B88E-7B6BD11E44CC}" type="datetimeFigureOut">
              <a:rPr kumimoji="1" lang="ja-JP" altLang="en-US" smtClean="0"/>
              <a:t>2026/4/16</a:t>
            </a:fld>
            <a:endParaRPr kumimoji="1" lang="ja-JP" altLang="en-US"/>
          </a:p>
        </p:txBody>
      </p:sp>
      <p:sp>
        <p:nvSpPr>
          <p:cNvPr id="5" name="フッター プレースホルダー 4">
            <a:extLst>
              <a:ext uri="{FF2B5EF4-FFF2-40B4-BE49-F238E27FC236}">
                <a16:creationId xmlns:a16="http://schemas.microsoft.com/office/drawing/2014/main" id="{627ED95F-FB52-36BF-046D-D25A6264CF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3729689-CF34-DC26-DE05-FC7CAC2E42C7}"/>
              </a:ext>
            </a:extLst>
          </p:cNvPr>
          <p:cNvSpPr>
            <a:spLocks noGrp="1"/>
          </p:cNvSpPr>
          <p:nvPr>
            <p:ph type="sldNum" sz="quarter" idx="12"/>
          </p:nvPr>
        </p:nvSpPr>
        <p:spPr/>
        <p:txBody>
          <a:bodyPr/>
          <a:lstStyle/>
          <a:p>
            <a:fld id="{1726BD64-CA78-4FA3-BCB2-EC7E5120D72F}" type="slidenum">
              <a:rPr kumimoji="1" lang="ja-JP" altLang="en-US" smtClean="0"/>
              <a:t>‹#›</a:t>
            </a:fld>
            <a:endParaRPr kumimoji="1" lang="ja-JP" altLang="en-US"/>
          </a:p>
        </p:txBody>
      </p:sp>
    </p:spTree>
    <p:extLst>
      <p:ext uri="{BB962C8B-B14F-4D97-AF65-F5344CB8AC3E}">
        <p14:creationId xmlns:p14="http://schemas.microsoft.com/office/powerpoint/2010/main" val="2773955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0941429-FC17-1634-86FB-DD248A92706D}"/>
              </a:ext>
            </a:extLst>
          </p:cNvPr>
          <p:cNvSpPr>
            <a:spLocks noGrp="1"/>
          </p:cNvSpPr>
          <p:nvPr>
            <p:ph type="title" orient="vert"/>
          </p:nvPr>
        </p:nvSpPr>
        <p:spPr>
          <a:xfrm>
            <a:off x="6543675" y="304271"/>
            <a:ext cx="1971675" cy="484319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91E7E40-52EC-10E1-CD44-F48ACF883D58}"/>
              </a:ext>
            </a:extLst>
          </p:cNvPr>
          <p:cNvSpPr>
            <a:spLocks noGrp="1"/>
          </p:cNvSpPr>
          <p:nvPr>
            <p:ph type="body" orient="vert" idx="1"/>
          </p:nvPr>
        </p:nvSpPr>
        <p:spPr>
          <a:xfrm>
            <a:off x="628650" y="304271"/>
            <a:ext cx="5800725" cy="484319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6042750-990F-807B-0F89-1BADF41BD9DE}"/>
              </a:ext>
            </a:extLst>
          </p:cNvPr>
          <p:cNvSpPr>
            <a:spLocks noGrp="1"/>
          </p:cNvSpPr>
          <p:nvPr>
            <p:ph type="dt" sz="half" idx="10"/>
          </p:nvPr>
        </p:nvSpPr>
        <p:spPr/>
        <p:txBody>
          <a:bodyPr/>
          <a:lstStyle/>
          <a:p>
            <a:fld id="{1B483A5D-3F1A-4FD7-B88E-7B6BD11E44CC}" type="datetimeFigureOut">
              <a:rPr kumimoji="1" lang="ja-JP" altLang="en-US" smtClean="0"/>
              <a:t>2026/4/16</a:t>
            </a:fld>
            <a:endParaRPr kumimoji="1" lang="ja-JP" altLang="en-US"/>
          </a:p>
        </p:txBody>
      </p:sp>
      <p:sp>
        <p:nvSpPr>
          <p:cNvPr id="5" name="フッター プレースホルダー 4">
            <a:extLst>
              <a:ext uri="{FF2B5EF4-FFF2-40B4-BE49-F238E27FC236}">
                <a16:creationId xmlns:a16="http://schemas.microsoft.com/office/drawing/2014/main" id="{D4EBD8DE-BB76-CB5A-4648-22BEB5ED502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86C3DA2-1D47-B5C0-4F3B-138DC9537E94}"/>
              </a:ext>
            </a:extLst>
          </p:cNvPr>
          <p:cNvSpPr>
            <a:spLocks noGrp="1"/>
          </p:cNvSpPr>
          <p:nvPr>
            <p:ph type="sldNum" sz="quarter" idx="12"/>
          </p:nvPr>
        </p:nvSpPr>
        <p:spPr/>
        <p:txBody>
          <a:bodyPr/>
          <a:lstStyle/>
          <a:p>
            <a:fld id="{1726BD64-CA78-4FA3-BCB2-EC7E5120D72F}" type="slidenum">
              <a:rPr kumimoji="1" lang="ja-JP" altLang="en-US" smtClean="0"/>
              <a:t>‹#›</a:t>
            </a:fld>
            <a:endParaRPr kumimoji="1" lang="ja-JP" altLang="en-US"/>
          </a:p>
        </p:txBody>
      </p:sp>
    </p:spTree>
    <p:extLst>
      <p:ext uri="{BB962C8B-B14F-4D97-AF65-F5344CB8AC3E}">
        <p14:creationId xmlns:p14="http://schemas.microsoft.com/office/powerpoint/2010/main" val="1944853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56AD963-2778-7582-6244-3E8B6B230425}"/>
              </a:ext>
            </a:extLst>
          </p:cNvPr>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58F9670-27DE-29A6-D742-41138A8DF3BF}"/>
              </a:ext>
            </a:extLst>
          </p:cNvPr>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657A9B1-56F2-AB5A-0BAA-55DE45743D92}"/>
              </a:ext>
            </a:extLst>
          </p:cNvPr>
          <p:cNvSpPr>
            <a:spLocks noGrp="1"/>
          </p:cNvSpPr>
          <p:nvPr>
            <p:ph type="dt" sz="half" idx="2"/>
          </p:nvPr>
        </p:nvSpPr>
        <p:spPr>
          <a:xfrm>
            <a:off x="628650" y="5296959"/>
            <a:ext cx="2057400" cy="304271"/>
          </a:xfrm>
          <a:prstGeom prst="rect">
            <a:avLst/>
          </a:prstGeom>
        </p:spPr>
        <p:txBody>
          <a:bodyPr vert="horz" lIns="91440" tIns="45720" rIns="91440" bIns="45720" rtlCol="0" anchor="ctr"/>
          <a:lstStyle>
            <a:lvl1pPr algn="l">
              <a:defRPr sz="900">
                <a:solidFill>
                  <a:schemeClr val="tx1">
                    <a:tint val="82000"/>
                  </a:schemeClr>
                </a:solidFill>
              </a:defRPr>
            </a:lvl1pPr>
          </a:lstStyle>
          <a:p>
            <a:fld id="{1B483A5D-3F1A-4FD7-B88E-7B6BD11E44CC}" type="datetimeFigureOut">
              <a:rPr kumimoji="1" lang="ja-JP" altLang="en-US" smtClean="0"/>
              <a:t>2026/4/16</a:t>
            </a:fld>
            <a:endParaRPr kumimoji="1" lang="ja-JP" altLang="en-US"/>
          </a:p>
        </p:txBody>
      </p:sp>
      <p:sp>
        <p:nvSpPr>
          <p:cNvPr id="5" name="フッター プレースホルダー 4">
            <a:extLst>
              <a:ext uri="{FF2B5EF4-FFF2-40B4-BE49-F238E27FC236}">
                <a16:creationId xmlns:a16="http://schemas.microsoft.com/office/drawing/2014/main" id="{244BFCF3-1F34-6ED3-DA50-00C06476D03D}"/>
              </a:ext>
            </a:extLst>
          </p:cNvPr>
          <p:cNvSpPr>
            <a:spLocks noGrp="1"/>
          </p:cNvSpPr>
          <p:nvPr>
            <p:ph type="ftr" sz="quarter" idx="3"/>
          </p:nvPr>
        </p:nvSpPr>
        <p:spPr>
          <a:xfrm>
            <a:off x="3028950" y="5296959"/>
            <a:ext cx="3086100" cy="304271"/>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0434515-B6C2-599C-4E8C-BE1754A716AF}"/>
              </a:ext>
            </a:extLst>
          </p:cNvPr>
          <p:cNvSpPr>
            <a:spLocks noGrp="1"/>
          </p:cNvSpPr>
          <p:nvPr>
            <p:ph type="sldNum" sz="quarter" idx="4"/>
          </p:nvPr>
        </p:nvSpPr>
        <p:spPr>
          <a:xfrm>
            <a:off x="6457950" y="5296959"/>
            <a:ext cx="2057400" cy="304271"/>
          </a:xfrm>
          <a:prstGeom prst="rect">
            <a:avLst/>
          </a:prstGeom>
        </p:spPr>
        <p:txBody>
          <a:bodyPr vert="horz" lIns="91440" tIns="45720" rIns="91440" bIns="45720" rtlCol="0" anchor="ctr"/>
          <a:lstStyle>
            <a:lvl1pPr algn="r">
              <a:defRPr sz="900">
                <a:solidFill>
                  <a:schemeClr val="tx1">
                    <a:tint val="82000"/>
                  </a:schemeClr>
                </a:solidFill>
              </a:defRPr>
            </a:lvl1pPr>
          </a:lstStyle>
          <a:p>
            <a:fld id="{1726BD64-CA78-4FA3-BCB2-EC7E5120D72F}" type="slidenum">
              <a:rPr kumimoji="1" lang="ja-JP" altLang="en-US" smtClean="0"/>
              <a:t>‹#›</a:t>
            </a:fld>
            <a:endParaRPr kumimoji="1" lang="ja-JP" altLang="en-US"/>
          </a:p>
        </p:txBody>
      </p:sp>
    </p:spTree>
    <p:extLst>
      <p:ext uri="{BB962C8B-B14F-4D97-AF65-F5344CB8AC3E}">
        <p14:creationId xmlns:p14="http://schemas.microsoft.com/office/powerpoint/2010/main" val="7694032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1D62D54F-F2F3-F185-FCED-5FF6A0A34E53}"/>
              </a:ext>
            </a:extLst>
          </p:cNvPr>
          <p:cNvSpPr/>
          <p:nvPr/>
        </p:nvSpPr>
        <p:spPr>
          <a:xfrm>
            <a:off x="0" y="0"/>
            <a:ext cx="16256000" cy="9144000"/>
          </a:xfrm>
          <a:prstGeom prst="rect">
            <a:avLst/>
          </a:prstGeom>
          <a:solidFill>
            <a:srgbClr val="F5F7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279A049E-6E6E-1634-5629-0BC620183BAD}"/>
              </a:ext>
            </a:extLst>
          </p:cNvPr>
          <p:cNvSpPr/>
          <p:nvPr/>
        </p:nvSpPr>
        <p:spPr>
          <a:xfrm>
            <a:off x="0" y="0"/>
            <a:ext cx="16256000" cy="685800"/>
          </a:xfrm>
          <a:prstGeom prst="rect">
            <a:avLst/>
          </a:prstGeom>
          <a:solidFill>
            <a:srgbClr val="0D718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83705E7B-394D-0C16-63AA-03AF30AFB3C7}"/>
              </a:ext>
            </a:extLst>
          </p:cNvPr>
          <p:cNvSpPr/>
          <p:nvPr/>
        </p:nvSpPr>
        <p:spPr>
          <a:xfrm>
            <a:off x="10795000" y="1143000"/>
            <a:ext cx="4191000" cy="6604000"/>
          </a:xfrm>
          <a:prstGeom prst="rect">
            <a:avLst/>
          </a:prstGeom>
          <a:solidFill>
            <a:srgbClr val="E8EDF3"/>
          </a:solidFill>
          <a:ln>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ED70A3CA-DFBB-CE09-2843-F0899CCE98DB}"/>
              </a:ext>
            </a:extLst>
          </p:cNvPr>
          <p:cNvSpPr txBox="1"/>
          <p:nvPr/>
        </p:nvSpPr>
        <p:spPr>
          <a:xfrm>
            <a:off x="1143000" y="1670599"/>
            <a:ext cx="8128000" cy="523220"/>
          </a:xfrm>
          <a:prstGeom prst="rect">
            <a:avLst/>
          </a:prstGeom>
          <a:noFill/>
        </p:spPr>
        <p:txBody>
          <a:bodyPr vert="horz" wrap="square" rtlCol="0" anchor="ctr">
            <a:spAutoFit/>
          </a:bodyPr>
          <a:lstStyle/>
          <a:p>
            <a:r>
              <a:rPr kumimoji="1" lang="ja-JP" altLang="en-US" sz="2800" b="1">
                <a:solidFill>
                  <a:srgbClr val="202A38"/>
                </a:solidFill>
                <a:latin typeface="Yu Gothic UI Semibold" panose="020B0700000000000000" pitchFamily="50" charset="-128"/>
              </a:rPr>
              <a:t>プログラム説明資料</a:t>
            </a:r>
          </a:p>
        </p:txBody>
      </p:sp>
      <p:sp>
        <p:nvSpPr>
          <p:cNvPr id="6" name="テキスト ボックス 5">
            <a:extLst>
              <a:ext uri="{FF2B5EF4-FFF2-40B4-BE49-F238E27FC236}">
                <a16:creationId xmlns:a16="http://schemas.microsoft.com/office/drawing/2014/main" id="{C7F5C0CE-3E34-C0ED-D629-FE31D661738D}"/>
              </a:ext>
            </a:extLst>
          </p:cNvPr>
          <p:cNvSpPr txBox="1"/>
          <p:nvPr/>
        </p:nvSpPr>
        <p:spPr>
          <a:xfrm>
            <a:off x="1206500" y="2735031"/>
            <a:ext cx="7747000" cy="769441"/>
          </a:xfrm>
          <a:prstGeom prst="rect">
            <a:avLst/>
          </a:prstGeom>
          <a:noFill/>
        </p:spPr>
        <p:txBody>
          <a:bodyPr vert="horz" wrap="square" rtlCol="0" anchor="ctr">
            <a:spAutoFit/>
          </a:bodyPr>
          <a:lstStyle/>
          <a:p>
            <a:r>
              <a:rPr kumimoji="1" lang="en-US" altLang="ja-JP" sz="2200">
                <a:solidFill>
                  <a:srgbClr val="4A586A"/>
                </a:solidFill>
                <a:latin typeface="Meiryo UI" panose="020B0604030504040204" pitchFamily="50" charset="-128"/>
              </a:rPr>
              <a:t>DirectX </a:t>
            </a:r>
            <a:r>
              <a:rPr kumimoji="1" lang="ja-JP" altLang="en-US" sz="2200">
                <a:solidFill>
                  <a:srgbClr val="4A586A"/>
                </a:solidFill>
                <a:latin typeface="Meiryo UI" panose="020B0604030504040204" pitchFamily="50" charset="-128"/>
              </a:rPr>
              <a:t>ベースの </a:t>
            </a:r>
            <a:r>
              <a:rPr kumimoji="1" lang="en-US" altLang="ja-JP" sz="2200">
                <a:solidFill>
                  <a:srgbClr val="4A586A"/>
                </a:solidFill>
                <a:latin typeface="Meiryo UI" panose="020B0604030504040204" pitchFamily="50" charset="-128"/>
              </a:rPr>
              <a:t>3D </a:t>
            </a:r>
            <a:r>
              <a:rPr kumimoji="1" lang="ja-JP" altLang="en-US" sz="2200">
                <a:solidFill>
                  <a:srgbClr val="4A586A"/>
                </a:solidFill>
                <a:latin typeface="Meiryo UI" panose="020B0604030504040204" pitchFamily="50" charset="-128"/>
              </a:rPr>
              <a:t>アクション作品を題材に、
設計面・武器システム・制御構造を整理した説明資料</a:t>
            </a:r>
          </a:p>
        </p:txBody>
      </p:sp>
      <p:sp>
        <p:nvSpPr>
          <p:cNvPr id="7" name="テキスト ボックス 6">
            <a:extLst>
              <a:ext uri="{FF2B5EF4-FFF2-40B4-BE49-F238E27FC236}">
                <a16:creationId xmlns:a16="http://schemas.microsoft.com/office/drawing/2014/main" id="{D3AB4E80-2DE5-7189-9F76-588EEEECBCB5}"/>
              </a:ext>
            </a:extLst>
          </p:cNvPr>
          <p:cNvSpPr txBox="1"/>
          <p:nvPr/>
        </p:nvSpPr>
        <p:spPr>
          <a:xfrm>
            <a:off x="1206500" y="7272043"/>
            <a:ext cx="4826000" cy="369332"/>
          </a:xfrm>
          <a:prstGeom prst="rect">
            <a:avLst/>
          </a:prstGeom>
          <a:noFill/>
        </p:spPr>
        <p:txBody>
          <a:bodyPr vert="horz" wrap="square" rtlCol="0" anchor="ctr">
            <a:spAutoFit/>
          </a:bodyPr>
          <a:lstStyle/>
          <a:p>
            <a:r>
              <a:rPr kumimoji="1" lang="ja-JP" altLang="en-US" sz="1800" b="1">
                <a:solidFill>
                  <a:srgbClr val="202A38"/>
                </a:solidFill>
                <a:latin typeface="Meiryo UI" panose="020B0604030504040204" pitchFamily="50" charset="-128"/>
              </a:rPr>
              <a:t>大久保拓（オオクボタク）</a:t>
            </a:r>
          </a:p>
        </p:txBody>
      </p:sp>
      <p:sp>
        <p:nvSpPr>
          <p:cNvPr id="8" name="四角形: 角を丸くする 7">
            <a:extLst>
              <a:ext uri="{FF2B5EF4-FFF2-40B4-BE49-F238E27FC236}">
                <a16:creationId xmlns:a16="http://schemas.microsoft.com/office/drawing/2014/main" id="{45511926-92AC-AF79-61A5-D4931A0387FD}"/>
              </a:ext>
            </a:extLst>
          </p:cNvPr>
          <p:cNvSpPr/>
          <p:nvPr/>
        </p:nvSpPr>
        <p:spPr>
          <a:xfrm>
            <a:off x="11239500" y="1714500"/>
            <a:ext cx="1524000" cy="431800"/>
          </a:xfrm>
          <a:prstGeom prst="roundRect">
            <a:avLst/>
          </a:prstGeom>
          <a:solidFill>
            <a:srgbClr val="0D718C"/>
          </a:solidFill>
          <a:ln w="12700">
            <a:solidFill>
              <a:srgbClr val="0D71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400" b="1">
                <a:solidFill>
                  <a:srgbClr val="FFFFFF"/>
                </a:solidFill>
                <a:latin typeface="Meiryo UI" panose="020B0604030504040204" pitchFamily="50" charset="-128"/>
              </a:rPr>
              <a:t>PROGRAM</a:t>
            </a:r>
            <a:endParaRPr kumimoji="1" lang="ja-JP" altLang="en-US" sz="1400" b="1">
              <a:solidFill>
                <a:srgbClr val="FFFFFF"/>
              </a:solidFill>
              <a:latin typeface="Meiryo UI" panose="020B0604030504040204" pitchFamily="50" charset="-128"/>
            </a:endParaRPr>
          </a:p>
        </p:txBody>
      </p:sp>
      <p:sp>
        <p:nvSpPr>
          <p:cNvPr id="9" name="テキスト ボックス 8">
            <a:extLst>
              <a:ext uri="{FF2B5EF4-FFF2-40B4-BE49-F238E27FC236}">
                <a16:creationId xmlns:a16="http://schemas.microsoft.com/office/drawing/2014/main" id="{2FD65F40-286F-FF02-8DC9-E58085F79B1F}"/>
              </a:ext>
            </a:extLst>
          </p:cNvPr>
          <p:cNvSpPr txBox="1"/>
          <p:nvPr/>
        </p:nvSpPr>
        <p:spPr>
          <a:xfrm>
            <a:off x="11239500" y="2430654"/>
            <a:ext cx="3175000" cy="400110"/>
          </a:xfrm>
          <a:prstGeom prst="rect">
            <a:avLst/>
          </a:prstGeom>
          <a:noFill/>
        </p:spPr>
        <p:txBody>
          <a:bodyPr vert="horz" wrap="square" rtlCol="0" anchor="ctr">
            <a:spAutoFit/>
          </a:bodyPr>
          <a:lstStyle/>
          <a:p>
            <a:r>
              <a:rPr kumimoji="1" lang="ja-JP" altLang="en-US" sz="2000" b="1">
                <a:solidFill>
                  <a:srgbClr val="202A38"/>
                </a:solidFill>
                <a:latin typeface="Meiryo UI" panose="020B0604030504040204" pitchFamily="50" charset="-128"/>
              </a:rPr>
              <a:t>主題</a:t>
            </a:r>
          </a:p>
        </p:txBody>
      </p:sp>
      <p:sp>
        <p:nvSpPr>
          <p:cNvPr id="10" name="テキスト ボックス 9">
            <a:extLst>
              <a:ext uri="{FF2B5EF4-FFF2-40B4-BE49-F238E27FC236}">
                <a16:creationId xmlns:a16="http://schemas.microsoft.com/office/drawing/2014/main" id="{8F7987FE-6647-241F-C560-4B7B77460F63}"/>
              </a:ext>
            </a:extLst>
          </p:cNvPr>
          <p:cNvSpPr txBox="1"/>
          <p:nvPr/>
        </p:nvSpPr>
        <p:spPr>
          <a:xfrm>
            <a:off x="11239500" y="2808222"/>
            <a:ext cx="3175000" cy="584775"/>
          </a:xfrm>
          <a:prstGeom prst="rect">
            <a:avLst/>
          </a:prstGeom>
          <a:noFill/>
        </p:spPr>
        <p:txBody>
          <a:bodyPr vert="horz" wrap="square" rtlCol="0" anchor="ctr">
            <a:spAutoFit/>
          </a:bodyPr>
          <a:lstStyle/>
          <a:p>
            <a:r>
              <a:rPr kumimoji="1" lang="ja-JP" altLang="en-US" sz="1600">
                <a:solidFill>
                  <a:srgbClr val="4A586A"/>
                </a:solidFill>
                <a:latin typeface="Meiryo UI" panose="020B0604030504040204" pitchFamily="50" charset="-128"/>
              </a:rPr>
              <a:t>武器システムを中心に構造を説明</a:t>
            </a:r>
          </a:p>
        </p:txBody>
      </p:sp>
      <p:sp>
        <p:nvSpPr>
          <p:cNvPr id="11" name="テキスト ボックス 10">
            <a:extLst>
              <a:ext uri="{FF2B5EF4-FFF2-40B4-BE49-F238E27FC236}">
                <a16:creationId xmlns:a16="http://schemas.microsoft.com/office/drawing/2014/main" id="{731A37CB-3EA3-72EE-E5A3-9F2FF9EB4CB4}"/>
              </a:ext>
            </a:extLst>
          </p:cNvPr>
          <p:cNvSpPr txBox="1"/>
          <p:nvPr/>
        </p:nvSpPr>
        <p:spPr>
          <a:xfrm>
            <a:off x="11239500" y="3312332"/>
            <a:ext cx="3175000" cy="338554"/>
          </a:xfrm>
          <a:prstGeom prst="rect">
            <a:avLst/>
          </a:prstGeom>
          <a:noFill/>
        </p:spPr>
        <p:txBody>
          <a:bodyPr vert="horz" wrap="square" rtlCol="0" anchor="ctr">
            <a:spAutoFit/>
          </a:bodyPr>
          <a:lstStyle/>
          <a:p>
            <a:r>
              <a:rPr kumimoji="1" lang="ja-JP" altLang="en-US" sz="1600">
                <a:solidFill>
                  <a:srgbClr val="4A586A"/>
                </a:solidFill>
                <a:latin typeface="Meiryo UI" panose="020B0604030504040204" pitchFamily="50" charset="-128"/>
              </a:rPr>
              <a:t>なぜこの実装にしたかを明示</a:t>
            </a:r>
          </a:p>
        </p:txBody>
      </p:sp>
      <p:sp>
        <p:nvSpPr>
          <p:cNvPr id="12" name="テキスト ボックス 11">
            <a:extLst>
              <a:ext uri="{FF2B5EF4-FFF2-40B4-BE49-F238E27FC236}">
                <a16:creationId xmlns:a16="http://schemas.microsoft.com/office/drawing/2014/main" id="{11C81CB7-D556-9F04-9F7C-8ED314A754CE}"/>
              </a:ext>
            </a:extLst>
          </p:cNvPr>
          <p:cNvSpPr txBox="1"/>
          <p:nvPr/>
        </p:nvSpPr>
        <p:spPr>
          <a:xfrm>
            <a:off x="11239500" y="3570222"/>
            <a:ext cx="3175000" cy="584775"/>
          </a:xfrm>
          <a:prstGeom prst="rect">
            <a:avLst/>
          </a:prstGeom>
          <a:noFill/>
        </p:spPr>
        <p:txBody>
          <a:bodyPr vert="horz" wrap="square" rtlCol="0" anchor="ctr">
            <a:spAutoFit/>
          </a:bodyPr>
          <a:lstStyle/>
          <a:p>
            <a:r>
              <a:rPr kumimoji="1" lang="ja-JP" altLang="en-US" sz="1600">
                <a:solidFill>
                  <a:srgbClr val="4A586A"/>
                </a:solidFill>
                <a:latin typeface="Meiryo UI" panose="020B0604030504040204" pitchFamily="50" charset="-128"/>
              </a:rPr>
              <a:t>結果として得た遊びと拡張性を整理</a:t>
            </a:r>
          </a:p>
        </p:txBody>
      </p:sp>
      <p:sp>
        <p:nvSpPr>
          <p:cNvPr id="13" name="四角形: 角を丸くする 12">
            <a:extLst>
              <a:ext uri="{FF2B5EF4-FFF2-40B4-BE49-F238E27FC236}">
                <a16:creationId xmlns:a16="http://schemas.microsoft.com/office/drawing/2014/main" id="{0E55AFD7-2FF1-7636-64AC-6B9FDB3329CE}"/>
              </a:ext>
            </a:extLst>
          </p:cNvPr>
          <p:cNvSpPr/>
          <p:nvPr/>
        </p:nvSpPr>
        <p:spPr>
          <a:xfrm>
            <a:off x="11366500" y="4508500"/>
            <a:ext cx="2794000" cy="889000"/>
          </a:xfrm>
          <a:prstGeom prst="roundRect">
            <a:avLst/>
          </a:prstGeom>
          <a:solidFill>
            <a:srgbClr val="DEECF5"/>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800" b="1">
                <a:solidFill>
                  <a:srgbClr val="202A38"/>
                </a:solidFill>
                <a:latin typeface="Meiryo UI" panose="020B0604030504040204" pitchFamily="50" charset="-128"/>
              </a:rPr>
              <a:t>PlayerManager</a:t>
            </a:r>
            <a:endParaRPr kumimoji="1" lang="ja-JP" altLang="en-US" sz="1800" b="1">
              <a:solidFill>
                <a:srgbClr val="202A38"/>
              </a:solidFill>
              <a:latin typeface="Meiryo UI" panose="020B0604030504040204" pitchFamily="50" charset="-128"/>
            </a:endParaRPr>
          </a:p>
        </p:txBody>
      </p:sp>
      <p:sp>
        <p:nvSpPr>
          <p:cNvPr id="14" name="四角形: 角を丸くする 13">
            <a:extLst>
              <a:ext uri="{FF2B5EF4-FFF2-40B4-BE49-F238E27FC236}">
                <a16:creationId xmlns:a16="http://schemas.microsoft.com/office/drawing/2014/main" id="{91DD82C8-350F-1234-94F0-ADF6478FB323}"/>
              </a:ext>
            </a:extLst>
          </p:cNvPr>
          <p:cNvSpPr/>
          <p:nvPr/>
        </p:nvSpPr>
        <p:spPr>
          <a:xfrm>
            <a:off x="11366500" y="5778500"/>
            <a:ext cx="1143000" cy="889000"/>
          </a:xfrm>
          <a:prstGeom prst="roundRect">
            <a:avLst/>
          </a:prstGeom>
          <a:solidFill>
            <a:srgbClr val="EAF0DE"/>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ja-JP" altLang="en-US" sz="1700" b="1">
                <a:solidFill>
                  <a:srgbClr val="202A38"/>
                </a:solidFill>
                <a:latin typeface="Meiryo UI" panose="020B0604030504040204" pitchFamily="50" charset="-128"/>
              </a:rPr>
              <a:t>武器</a:t>
            </a:r>
          </a:p>
        </p:txBody>
      </p:sp>
      <p:sp>
        <p:nvSpPr>
          <p:cNvPr id="15" name="四角形: 角を丸くする 14">
            <a:extLst>
              <a:ext uri="{FF2B5EF4-FFF2-40B4-BE49-F238E27FC236}">
                <a16:creationId xmlns:a16="http://schemas.microsoft.com/office/drawing/2014/main" id="{1E02BAA8-5935-8DBD-91C8-B5C8EFB02284}"/>
              </a:ext>
            </a:extLst>
          </p:cNvPr>
          <p:cNvSpPr/>
          <p:nvPr/>
        </p:nvSpPr>
        <p:spPr>
          <a:xfrm>
            <a:off x="13017500" y="5778500"/>
            <a:ext cx="1143000" cy="889000"/>
          </a:xfrm>
          <a:prstGeom prst="roundRect">
            <a:avLst/>
          </a:prstGeom>
          <a:solidFill>
            <a:srgbClr val="F8E8D5"/>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700" b="1">
                <a:solidFill>
                  <a:srgbClr val="202A38"/>
                </a:solidFill>
                <a:latin typeface="Meiryo UI" panose="020B0604030504040204" pitchFamily="50" charset="-128"/>
              </a:rPr>
              <a:t>UI</a:t>
            </a:r>
            <a:endParaRPr kumimoji="1" lang="ja-JP" altLang="en-US" sz="1700" b="1">
              <a:solidFill>
                <a:srgbClr val="202A38"/>
              </a:solidFill>
              <a:latin typeface="Meiryo UI" panose="020B0604030504040204" pitchFamily="50" charset="-128"/>
            </a:endParaRPr>
          </a:p>
        </p:txBody>
      </p:sp>
      <p:sp>
        <p:nvSpPr>
          <p:cNvPr id="16" name="矢印: 右 15">
            <a:extLst>
              <a:ext uri="{FF2B5EF4-FFF2-40B4-BE49-F238E27FC236}">
                <a16:creationId xmlns:a16="http://schemas.microsoft.com/office/drawing/2014/main" id="{ABF14DC5-6F67-11FE-9B68-762B747D61D9}"/>
              </a:ext>
            </a:extLst>
          </p:cNvPr>
          <p:cNvSpPr/>
          <p:nvPr/>
        </p:nvSpPr>
        <p:spPr>
          <a:xfrm>
            <a:off x="12382500" y="5359400"/>
            <a:ext cx="762000" cy="317500"/>
          </a:xfrm>
          <a:prstGeom prst="rightArrow">
            <a:avLst/>
          </a:prstGeom>
          <a:solidFill>
            <a:srgbClr val="0D718C"/>
          </a:solidFill>
          <a:ln>
            <a:solidFill>
              <a:srgbClr val="0D71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矢印: 右 16">
            <a:extLst>
              <a:ext uri="{FF2B5EF4-FFF2-40B4-BE49-F238E27FC236}">
                <a16:creationId xmlns:a16="http://schemas.microsoft.com/office/drawing/2014/main" id="{C5A3726F-5711-5311-A4C7-0ACED643C976}"/>
              </a:ext>
            </a:extLst>
          </p:cNvPr>
          <p:cNvSpPr/>
          <p:nvPr/>
        </p:nvSpPr>
        <p:spPr>
          <a:xfrm>
            <a:off x="13208000" y="5359400"/>
            <a:ext cx="63500" cy="317500"/>
          </a:xfrm>
          <a:prstGeom prst="rightArrow">
            <a:avLst/>
          </a:prstGeom>
          <a:solidFill>
            <a:srgbClr val="0D718C"/>
          </a:solidFill>
          <a:ln>
            <a:solidFill>
              <a:srgbClr val="0D71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0821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D826FA6B-6698-B36E-90FA-9C4F7AF85DD4}"/>
              </a:ext>
            </a:extLst>
          </p:cNvPr>
          <p:cNvSpPr/>
          <p:nvPr/>
        </p:nvSpPr>
        <p:spPr>
          <a:xfrm>
            <a:off x="609600" y="609600"/>
            <a:ext cx="15036800" cy="7924800"/>
          </a:xfrm>
          <a:prstGeom prst="rect">
            <a:avLst/>
          </a:prstGeom>
          <a:solidFill>
            <a:srgbClr val="E8EDF3"/>
          </a:solidFill>
          <a:ln w="15875">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AB53B420-B51D-0183-CD54-C16CF1441F2B}"/>
              </a:ext>
            </a:extLst>
          </p:cNvPr>
          <p:cNvSpPr/>
          <p:nvPr/>
        </p:nvSpPr>
        <p:spPr>
          <a:xfrm>
            <a:off x="914400" y="1371600"/>
            <a:ext cx="6604000" cy="6604000"/>
          </a:xfrm>
          <a:prstGeom prst="rect">
            <a:avLst/>
          </a:prstGeom>
          <a:solidFill>
            <a:srgbClr val="FFFFFF"/>
          </a:solidFill>
          <a:ln w="15875">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FA2B0731-20DC-04C5-6B02-929211DFB26C}"/>
              </a:ext>
            </a:extLst>
          </p:cNvPr>
          <p:cNvSpPr/>
          <p:nvPr/>
        </p:nvSpPr>
        <p:spPr>
          <a:xfrm>
            <a:off x="7975600" y="1371600"/>
            <a:ext cx="7366000" cy="6604000"/>
          </a:xfrm>
          <a:prstGeom prst="rect">
            <a:avLst/>
          </a:prstGeom>
          <a:solidFill>
            <a:srgbClr val="FFFFFF"/>
          </a:solidFill>
          <a:ln w="15875">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97A65AB2-15BC-1BDB-2BF6-24BC9A2D5BAA}"/>
              </a:ext>
            </a:extLst>
          </p:cNvPr>
          <p:cNvSpPr/>
          <p:nvPr/>
        </p:nvSpPr>
        <p:spPr>
          <a:xfrm>
            <a:off x="914400" y="787400"/>
            <a:ext cx="1473200" cy="381000"/>
          </a:xfrm>
          <a:prstGeom prst="roundRect">
            <a:avLst/>
          </a:prstGeom>
          <a:solidFill>
            <a:srgbClr val="0D718C"/>
          </a:solidFill>
          <a:ln w="12700">
            <a:solidFill>
              <a:srgbClr val="0D71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400" b="1">
                <a:solidFill>
                  <a:srgbClr val="FFFFFF"/>
                </a:solidFill>
                <a:latin typeface="Meiryo UI" panose="020B0604030504040204" pitchFamily="50" charset="-128"/>
              </a:rPr>
              <a:t>CONTENTS</a:t>
            </a:r>
            <a:endParaRPr kumimoji="1" lang="ja-JP" altLang="en-US" sz="1400" b="1">
              <a:solidFill>
                <a:srgbClr val="FFFFFF"/>
              </a:solidFill>
              <a:latin typeface="Meiryo UI" panose="020B0604030504040204" pitchFamily="50" charset="-128"/>
            </a:endParaRPr>
          </a:p>
        </p:txBody>
      </p:sp>
      <p:sp>
        <p:nvSpPr>
          <p:cNvPr id="6" name="テキスト ボックス 5">
            <a:extLst>
              <a:ext uri="{FF2B5EF4-FFF2-40B4-BE49-F238E27FC236}">
                <a16:creationId xmlns:a16="http://schemas.microsoft.com/office/drawing/2014/main" id="{04064630-157D-4E5E-0D38-B2FFFFD6CCCF}"/>
              </a:ext>
            </a:extLst>
          </p:cNvPr>
          <p:cNvSpPr txBox="1"/>
          <p:nvPr/>
        </p:nvSpPr>
        <p:spPr>
          <a:xfrm>
            <a:off x="2603500" y="685377"/>
            <a:ext cx="7112000" cy="461665"/>
          </a:xfrm>
          <a:prstGeom prst="rect">
            <a:avLst/>
          </a:prstGeom>
          <a:noFill/>
        </p:spPr>
        <p:txBody>
          <a:bodyPr vert="horz" wrap="square" rtlCol="0" anchor="ctr">
            <a:spAutoFit/>
          </a:bodyPr>
          <a:lstStyle/>
          <a:p>
            <a:r>
              <a:rPr kumimoji="1" lang="ja-JP" altLang="en-US" sz="2400" b="1">
                <a:solidFill>
                  <a:srgbClr val="202A38"/>
                </a:solidFill>
                <a:latin typeface="Yu Gothic UI Semibold" panose="020B0700000000000000" pitchFamily="50" charset="-128"/>
              </a:rPr>
              <a:t>目次</a:t>
            </a:r>
          </a:p>
        </p:txBody>
      </p:sp>
      <p:sp>
        <p:nvSpPr>
          <p:cNvPr id="7" name="テキスト ボックス 6">
            <a:extLst>
              <a:ext uri="{FF2B5EF4-FFF2-40B4-BE49-F238E27FC236}">
                <a16:creationId xmlns:a16="http://schemas.microsoft.com/office/drawing/2014/main" id="{790578E5-525E-3503-2F3E-96D08F91CC64}"/>
              </a:ext>
            </a:extLst>
          </p:cNvPr>
          <p:cNvSpPr txBox="1"/>
          <p:nvPr/>
        </p:nvSpPr>
        <p:spPr>
          <a:xfrm>
            <a:off x="1219200" y="1757875"/>
            <a:ext cx="5842000" cy="615553"/>
          </a:xfrm>
          <a:prstGeom prst="rect">
            <a:avLst/>
          </a:prstGeom>
          <a:noFill/>
        </p:spPr>
        <p:txBody>
          <a:bodyPr vert="horz" wrap="square" rtlCol="0" anchor="ctr">
            <a:spAutoFit/>
          </a:bodyPr>
          <a:lstStyle/>
          <a:p>
            <a:r>
              <a:rPr kumimoji="1" lang="ja-JP" altLang="en-US" sz="1700">
                <a:solidFill>
                  <a:srgbClr val="202A38"/>
                </a:solidFill>
                <a:latin typeface="Meiryo UI" panose="020B0604030504040204" pitchFamily="50" charset="-128"/>
              </a:rPr>
              <a:t>この資料では、まず作品全体を俯瞰し、その上でシーン管理の流れを整理する。</a:t>
            </a:r>
          </a:p>
        </p:txBody>
      </p:sp>
      <p:sp>
        <p:nvSpPr>
          <p:cNvPr id="8" name="テキスト ボックス 7">
            <a:extLst>
              <a:ext uri="{FF2B5EF4-FFF2-40B4-BE49-F238E27FC236}">
                <a16:creationId xmlns:a16="http://schemas.microsoft.com/office/drawing/2014/main" id="{98C2607C-74F7-B12D-9FEF-72648E693635}"/>
              </a:ext>
            </a:extLst>
          </p:cNvPr>
          <p:cNvSpPr txBox="1"/>
          <p:nvPr/>
        </p:nvSpPr>
        <p:spPr>
          <a:xfrm>
            <a:off x="1219200" y="2363670"/>
            <a:ext cx="5842000" cy="877163"/>
          </a:xfrm>
          <a:prstGeom prst="rect">
            <a:avLst/>
          </a:prstGeom>
          <a:noFill/>
        </p:spPr>
        <p:txBody>
          <a:bodyPr vert="horz" wrap="square" rtlCol="0" anchor="ctr">
            <a:spAutoFit/>
          </a:bodyPr>
          <a:lstStyle/>
          <a:p>
            <a:r>
              <a:rPr kumimoji="1" lang="ja-JP" altLang="en-US" sz="1700">
                <a:solidFill>
                  <a:srgbClr val="202A38"/>
                </a:solidFill>
                <a:latin typeface="Meiryo UI" panose="020B0604030504040204" pitchFamily="50" charset="-128"/>
              </a:rPr>
              <a:t>中心となる主軸では、武器システムを「なぜ実装したか」「どう設計したか」「どう遊びに効いたか」の順で説明する。</a:t>
            </a:r>
          </a:p>
        </p:txBody>
      </p:sp>
      <p:sp>
        <p:nvSpPr>
          <p:cNvPr id="9" name="テキスト ボックス 8">
            <a:extLst>
              <a:ext uri="{FF2B5EF4-FFF2-40B4-BE49-F238E27FC236}">
                <a16:creationId xmlns:a16="http://schemas.microsoft.com/office/drawing/2014/main" id="{8C288FD0-7273-E481-20C6-4073D8A8DC5C}"/>
              </a:ext>
            </a:extLst>
          </p:cNvPr>
          <p:cNvSpPr txBox="1"/>
          <p:nvPr/>
        </p:nvSpPr>
        <p:spPr>
          <a:xfrm>
            <a:off x="1219200" y="3231075"/>
            <a:ext cx="5842000" cy="615553"/>
          </a:xfrm>
          <a:prstGeom prst="rect">
            <a:avLst/>
          </a:prstGeom>
          <a:noFill/>
        </p:spPr>
        <p:txBody>
          <a:bodyPr vert="horz" wrap="square" rtlCol="0" anchor="ctr">
            <a:spAutoFit/>
          </a:bodyPr>
          <a:lstStyle/>
          <a:p>
            <a:r>
              <a:rPr kumimoji="1" lang="ja-JP" altLang="en-US" sz="1700">
                <a:solidFill>
                  <a:srgbClr val="202A38"/>
                </a:solidFill>
                <a:latin typeface="Meiryo UI" panose="020B0604030504040204" pitchFamily="50" charset="-128"/>
              </a:rPr>
              <a:t>最後に、武器システムを支える補助要素として、状態遷移、敵管理、データ調整基盤をまとめる。</a:t>
            </a:r>
          </a:p>
        </p:txBody>
      </p:sp>
      <p:sp>
        <p:nvSpPr>
          <p:cNvPr id="10" name="四角形: 角を丸くする 9">
            <a:extLst>
              <a:ext uri="{FF2B5EF4-FFF2-40B4-BE49-F238E27FC236}">
                <a16:creationId xmlns:a16="http://schemas.microsoft.com/office/drawing/2014/main" id="{83F38551-BDA0-D036-7A27-1347DFFF3548}"/>
              </a:ext>
            </a:extLst>
          </p:cNvPr>
          <p:cNvSpPr/>
          <p:nvPr/>
        </p:nvSpPr>
        <p:spPr>
          <a:xfrm>
            <a:off x="8636000" y="1968500"/>
            <a:ext cx="2667000" cy="914400"/>
          </a:xfrm>
          <a:prstGeom prst="roundRect">
            <a:avLst/>
          </a:prstGeom>
          <a:solidFill>
            <a:srgbClr val="DEECF5"/>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ja-JP" altLang="en-US" sz="1900" b="1">
                <a:solidFill>
                  <a:srgbClr val="202A38"/>
                </a:solidFill>
                <a:latin typeface="Meiryo UI" panose="020B0604030504040204" pitchFamily="50" charset="-128"/>
              </a:rPr>
              <a:t>プロジェクト概要</a:t>
            </a:r>
          </a:p>
        </p:txBody>
      </p:sp>
      <p:sp>
        <p:nvSpPr>
          <p:cNvPr id="11" name="四角形: 角を丸くする 10">
            <a:extLst>
              <a:ext uri="{FF2B5EF4-FFF2-40B4-BE49-F238E27FC236}">
                <a16:creationId xmlns:a16="http://schemas.microsoft.com/office/drawing/2014/main" id="{986C2F91-7E65-FCF5-64CC-046F3616F7D1}"/>
              </a:ext>
            </a:extLst>
          </p:cNvPr>
          <p:cNvSpPr/>
          <p:nvPr/>
        </p:nvSpPr>
        <p:spPr>
          <a:xfrm>
            <a:off x="11811000" y="1968500"/>
            <a:ext cx="2667000" cy="914400"/>
          </a:xfrm>
          <a:prstGeom prst="roundRect">
            <a:avLst/>
          </a:prstGeom>
          <a:solidFill>
            <a:srgbClr val="EAF0DE"/>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ja-JP" altLang="en-US" sz="1900" b="1">
                <a:solidFill>
                  <a:srgbClr val="202A38"/>
                </a:solidFill>
                <a:latin typeface="Meiryo UI" panose="020B0604030504040204" pitchFamily="50" charset="-128"/>
              </a:rPr>
              <a:t>シーン管理</a:t>
            </a:r>
          </a:p>
        </p:txBody>
      </p:sp>
      <p:sp>
        <p:nvSpPr>
          <p:cNvPr id="12" name="四角形: 角を丸くする 11">
            <a:extLst>
              <a:ext uri="{FF2B5EF4-FFF2-40B4-BE49-F238E27FC236}">
                <a16:creationId xmlns:a16="http://schemas.microsoft.com/office/drawing/2014/main" id="{14B55473-4E91-3ACA-303F-F57A10D446F5}"/>
              </a:ext>
            </a:extLst>
          </p:cNvPr>
          <p:cNvSpPr/>
          <p:nvPr/>
        </p:nvSpPr>
        <p:spPr>
          <a:xfrm>
            <a:off x="8636000" y="3619500"/>
            <a:ext cx="2667000" cy="2286000"/>
          </a:xfrm>
          <a:prstGeom prst="roundRect">
            <a:avLst/>
          </a:prstGeom>
          <a:solidFill>
            <a:srgbClr val="F8E8D5"/>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ja-JP" altLang="en-US" sz="1900" b="1">
                <a:solidFill>
                  <a:srgbClr val="202A38"/>
                </a:solidFill>
                <a:latin typeface="Meiryo UI" panose="020B0604030504040204" pitchFamily="50" charset="-128"/>
              </a:rPr>
              <a:t>主軸
武器システム</a:t>
            </a:r>
          </a:p>
        </p:txBody>
      </p:sp>
      <p:sp>
        <p:nvSpPr>
          <p:cNvPr id="13" name="四角形: 角を丸くする 12">
            <a:extLst>
              <a:ext uri="{FF2B5EF4-FFF2-40B4-BE49-F238E27FC236}">
                <a16:creationId xmlns:a16="http://schemas.microsoft.com/office/drawing/2014/main" id="{C9EDFE86-D7D7-817B-7D41-A5FFA9E5B77E}"/>
              </a:ext>
            </a:extLst>
          </p:cNvPr>
          <p:cNvSpPr/>
          <p:nvPr/>
        </p:nvSpPr>
        <p:spPr>
          <a:xfrm>
            <a:off x="11811000" y="3619500"/>
            <a:ext cx="2667000" cy="2286000"/>
          </a:xfrm>
          <a:prstGeom prst="roundRect">
            <a:avLst/>
          </a:prstGeom>
          <a:solidFill>
            <a:srgbClr val="EBE1F2"/>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ja-JP" altLang="en-US" sz="1900" b="1">
                <a:solidFill>
                  <a:srgbClr val="202A38"/>
                </a:solidFill>
                <a:latin typeface="Meiryo UI" panose="020B0604030504040204" pitchFamily="50" charset="-128"/>
              </a:rPr>
              <a:t>補助
状態遷移・敵管理</a:t>
            </a:r>
          </a:p>
        </p:txBody>
      </p:sp>
      <p:sp>
        <p:nvSpPr>
          <p:cNvPr id="14" name="矢印: 右 13">
            <a:extLst>
              <a:ext uri="{FF2B5EF4-FFF2-40B4-BE49-F238E27FC236}">
                <a16:creationId xmlns:a16="http://schemas.microsoft.com/office/drawing/2014/main" id="{3BDEBAE4-0D36-7DD3-2FA0-9B43CB800D6D}"/>
              </a:ext>
            </a:extLst>
          </p:cNvPr>
          <p:cNvSpPr/>
          <p:nvPr/>
        </p:nvSpPr>
        <p:spPr>
          <a:xfrm>
            <a:off x="9969500" y="2921000"/>
            <a:ext cx="381000" cy="533400"/>
          </a:xfrm>
          <a:prstGeom prst="rightArrow">
            <a:avLst/>
          </a:prstGeom>
          <a:solidFill>
            <a:srgbClr val="0D718C"/>
          </a:solidFill>
          <a:ln>
            <a:solidFill>
              <a:srgbClr val="0D71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矢印: 右 14">
            <a:extLst>
              <a:ext uri="{FF2B5EF4-FFF2-40B4-BE49-F238E27FC236}">
                <a16:creationId xmlns:a16="http://schemas.microsoft.com/office/drawing/2014/main" id="{58D2F897-625F-1782-7615-62BB7BA499D2}"/>
              </a:ext>
            </a:extLst>
          </p:cNvPr>
          <p:cNvSpPr/>
          <p:nvPr/>
        </p:nvSpPr>
        <p:spPr>
          <a:xfrm>
            <a:off x="13144500" y="2921000"/>
            <a:ext cx="381000" cy="533400"/>
          </a:xfrm>
          <a:prstGeom prst="rightArrow">
            <a:avLst/>
          </a:prstGeom>
          <a:solidFill>
            <a:srgbClr val="0D718C"/>
          </a:solidFill>
          <a:ln>
            <a:solidFill>
              <a:srgbClr val="0D71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31333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FA5BCC93-9B9E-34FD-839A-09424A057ABD}"/>
              </a:ext>
            </a:extLst>
          </p:cNvPr>
          <p:cNvSpPr/>
          <p:nvPr/>
        </p:nvSpPr>
        <p:spPr>
          <a:xfrm>
            <a:off x="609600" y="609600"/>
            <a:ext cx="15036800" cy="7924800"/>
          </a:xfrm>
          <a:prstGeom prst="rect">
            <a:avLst/>
          </a:prstGeom>
          <a:solidFill>
            <a:srgbClr val="E8EDF3"/>
          </a:solidFill>
          <a:ln w="15875">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0BC393B7-BAD4-9E10-F4DF-0FF289A52C2F}"/>
              </a:ext>
            </a:extLst>
          </p:cNvPr>
          <p:cNvSpPr/>
          <p:nvPr/>
        </p:nvSpPr>
        <p:spPr>
          <a:xfrm>
            <a:off x="914400" y="1371600"/>
            <a:ext cx="6604000" cy="6604000"/>
          </a:xfrm>
          <a:prstGeom prst="rect">
            <a:avLst/>
          </a:prstGeom>
          <a:solidFill>
            <a:srgbClr val="FFFFFF"/>
          </a:solidFill>
          <a:ln w="15875">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26164869-8077-731B-481E-66AC857F9896}"/>
              </a:ext>
            </a:extLst>
          </p:cNvPr>
          <p:cNvSpPr/>
          <p:nvPr/>
        </p:nvSpPr>
        <p:spPr>
          <a:xfrm>
            <a:off x="7975600" y="1371600"/>
            <a:ext cx="7366000" cy="6604000"/>
          </a:xfrm>
          <a:prstGeom prst="rect">
            <a:avLst/>
          </a:prstGeom>
          <a:solidFill>
            <a:srgbClr val="FFFFFF"/>
          </a:solidFill>
          <a:ln w="15875">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539374EE-7C43-4BA6-6455-9AB8C88E7DFD}"/>
              </a:ext>
            </a:extLst>
          </p:cNvPr>
          <p:cNvSpPr/>
          <p:nvPr/>
        </p:nvSpPr>
        <p:spPr>
          <a:xfrm>
            <a:off x="914400" y="787400"/>
            <a:ext cx="1473200" cy="381000"/>
          </a:xfrm>
          <a:prstGeom prst="roundRect">
            <a:avLst/>
          </a:prstGeom>
          <a:solidFill>
            <a:srgbClr val="0D718C"/>
          </a:solidFill>
          <a:ln w="12700">
            <a:solidFill>
              <a:srgbClr val="0D71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400" b="1">
                <a:solidFill>
                  <a:srgbClr val="FFFFFF"/>
                </a:solidFill>
                <a:latin typeface="Meiryo UI" panose="020B0604030504040204" pitchFamily="50" charset="-128"/>
              </a:rPr>
              <a:t>OVERVIEW</a:t>
            </a:r>
            <a:endParaRPr kumimoji="1" lang="ja-JP" altLang="en-US" sz="1400" b="1">
              <a:solidFill>
                <a:srgbClr val="FFFFFF"/>
              </a:solidFill>
              <a:latin typeface="Meiryo UI" panose="020B0604030504040204" pitchFamily="50" charset="-128"/>
            </a:endParaRPr>
          </a:p>
        </p:txBody>
      </p:sp>
      <p:sp>
        <p:nvSpPr>
          <p:cNvPr id="6" name="テキスト ボックス 5">
            <a:extLst>
              <a:ext uri="{FF2B5EF4-FFF2-40B4-BE49-F238E27FC236}">
                <a16:creationId xmlns:a16="http://schemas.microsoft.com/office/drawing/2014/main" id="{8D6CA0BC-D217-EA8B-7D0C-A4866599A73E}"/>
              </a:ext>
            </a:extLst>
          </p:cNvPr>
          <p:cNvSpPr txBox="1"/>
          <p:nvPr/>
        </p:nvSpPr>
        <p:spPr>
          <a:xfrm>
            <a:off x="2603500" y="685377"/>
            <a:ext cx="7112000" cy="461665"/>
          </a:xfrm>
          <a:prstGeom prst="rect">
            <a:avLst/>
          </a:prstGeom>
          <a:noFill/>
        </p:spPr>
        <p:txBody>
          <a:bodyPr vert="horz" wrap="square" rtlCol="0" anchor="ctr">
            <a:spAutoFit/>
          </a:bodyPr>
          <a:lstStyle/>
          <a:p>
            <a:r>
              <a:rPr kumimoji="1" lang="ja-JP" altLang="en-US" sz="2400" b="1">
                <a:solidFill>
                  <a:srgbClr val="202A38"/>
                </a:solidFill>
                <a:latin typeface="Yu Gothic UI Semibold" panose="020B0700000000000000" pitchFamily="50" charset="-128"/>
              </a:rPr>
              <a:t>プロジェクト概要</a:t>
            </a:r>
          </a:p>
        </p:txBody>
      </p:sp>
      <p:sp>
        <p:nvSpPr>
          <p:cNvPr id="7" name="テキスト ボックス 6">
            <a:extLst>
              <a:ext uri="{FF2B5EF4-FFF2-40B4-BE49-F238E27FC236}">
                <a16:creationId xmlns:a16="http://schemas.microsoft.com/office/drawing/2014/main" id="{367DB527-9F43-702F-2352-54584BCE4D14}"/>
              </a:ext>
            </a:extLst>
          </p:cNvPr>
          <p:cNvSpPr txBox="1"/>
          <p:nvPr/>
        </p:nvSpPr>
        <p:spPr>
          <a:xfrm>
            <a:off x="1219200" y="1757875"/>
            <a:ext cx="5842000" cy="615553"/>
          </a:xfrm>
          <a:prstGeom prst="rect">
            <a:avLst/>
          </a:prstGeom>
          <a:noFill/>
        </p:spPr>
        <p:txBody>
          <a:bodyPr vert="horz" wrap="square" rtlCol="0" anchor="ctr">
            <a:spAutoFit/>
          </a:bodyPr>
          <a:lstStyle/>
          <a:p>
            <a:r>
              <a:rPr kumimoji="1" lang="ja-JP" altLang="en-US" sz="1700">
                <a:solidFill>
                  <a:srgbClr val="202A38"/>
                </a:solidFill>
                <a:latin typeface="Meiryo UI" panose="020B0604030504040204" pitchFamily="50" charset="-128"/>
              </a:rPr>
              <a:t>この作品は、</a:t>
            </a:r>
            <a:r>
              <a:rPr kumimoji="1" lang="en-US" altLang="ja-JP" sz="1700">
                <a:solidFill>
                  <a:srgbClr val="202A38"/>
                </a:solidFill>
                <a:latin typeface="Meiryo UI" panose="020B0604030504040204" pitchFamily="50" charset="-128"/>
              </a:rPr>
              <a:t>Title / Game / Result </a:t>
            </a:r>
            <a:r>
              <a:rPr kumimoji="1" lang="ja-JP" altLang="en-US" sz="1700">
                <a:solidFill>
                  <a:srgbClr val="202A38"/>
                </a:solidFill>
                <a:latin typeface="Meiryo UI" panose="020B0604030504040204" pitchFamily="50" charset="-128"/>
              </a:rPr>
              <a:t>の </a:t>
            </a:r>
            <a:r>
              <a:rPr kumimoji="1" lang="en-US" altLang="ja-JP" sz="1700">
                <a:solidFill>
                  <a:srgbClr val="202A38"/>
                </a:solidFill>
                <a:latin typeface="Meiryo UI" panose="020B0604030504040204" pitchFamily="50" charset="-128"/>
              </a:rPr>
              <a:t>3 </a:t>
            </a:r>
            <a:r>
              <a:rPr kumimoji="1" lang="ja-JP" altLang="en-US" sz="1700">
                <a:solidFill>
                  <a:srgbClr val="202A38"/>
                </a:solidFill>
                <a:latin typeface="Meiryo UI" panose="020B0604030504040204" pitchFamily="50" charset="-128"/>
              </a:rPr>
              <a:t>シーンで構成した </a:t>
            </a:r>
            <a:r>
              <a:rPr kumimoji="1" lang="en-US" altLang="ja-JP" sz="1700">
                <a:solidFill>
                  <a:srgbClr val="202A38"/>
                </a:solidFill>
                <a:latin typeface="Meiryo UI" panose="020B0604030504040204" pitchFamily="50" charset="-128"/>
              </a:rPr>
              <a:t>3D </a:t>
            </a:r>
            <a:r>
              <a:rPr kumimoji="1" lang="ja-JP" altLang="en-US" sz="1700">
                <a:solidFill>
                  <a:srgbClr val="202A38"/>
                </a:solidFill>
                <a:latin typeface="Meiryo UI" panose="020B0604030504040204" pitchFamily="50" charset="-128"/>
              </a:rPr>
              <a:t>アクションゲームである。</a:t>
            </a:r>
          </a:p>
        </p:txBody>
      </p:sp>
      <p:sp>
        <p:nvSpPr>
          <p:cNvPr id="8" name="テキスト ボックス 7">
            <a:extLst>
              <a:ext uri="{FF2B5EF4-FFF2-40B4-BE49-F238E27FC236}">
                <a16:creationId xmlns:a16="http://schemas.microsoft.com/office/drawing/2014/main" id="{51AB9BA4-A5CA-D479-1A6C-7C4D5DDDC62A}"/>
              </a:ext>
            </a:extLst>
          </p:cNvPr>
          <p:cNvSpPr txBox="1"/>
          <p:nvPr/>
        </p:nvSpPr>
        <p:spPr>
          <a:xfrm>
            <a:off x="1219200" y="2494475"/>
            <a:ext cx="5842000" cy="615553"/>
          </a:xfrm>
          <a:prstGeom prst="rect">
            <a:avLst/>
          </a:prstGeom>
          <a:noFill/>
        </p:spPr>
        <p:txBody>
          <a:bodyPr vert="horz" wrap="square" rtlCol="0" anchor="ctr">
            <a:spAutoFit/>
          </a:bodyPr>
          <a:lstStyle/>
          <a:p>
            <a:r>
              <a:rPr kumimoji="1" lang="ja-JP" altLang="en-US" sz="1700">
                <a:solidFill>
                  <a:srgbClr val="202A38"/>
                </a:solidFill>
                <a:latin typeface="Meiryo UI" panose="020B0604030504040204" pitchFamily="50" charset="-128"/>
              </a:rPr>
              <a:t>単に敵を倒すだけではなく、レベルアップで武器構成を選びながらビルドを作ることを体験の中心に置いた。</a:t>
            </a:r>
          </a:p>
        </p:txBody>
      </p:sp>
      <p:sp>
        <p:nvSpPr>
          <p:cNvPr id="9" name="テキスト ボックス 8">
            <a:extLst>
              <a:ext uri="{FF2B5EF4-FFF2-40B4-BE49-F238E27FC236}">
                <a16:creationId xmlns:a16="http://schemas.microsoft.com/office/drawing/2014/main" id="{5E9B72A5-B9A9-6410-6ACC-378D0171A477}"/>
              </a:ext>
            </a:extLst>
          </p:cNvPr>
          <p:cNvSpPr txBox="1"/>
          <p:nvPr/>
        </p:nvSpPr>
        <p:spPr>
          <a:xfrm>
            <a:off x="1219200" y="3231075"/>
            <a:ext cx="5842000" cy="615553"/>
          </a:xfrm>
          <a:prstGeom prst="rect">
            <a:avLst/>
          </a:prstGeom>
          <a:noFill/>
        </p:spPr>
        <p:txBody>
          <a:bodyPr vert="horz" wrap="square" rtlCol="0" anchor="ctr">
            <a:spAutoFit/>
          </a:bodyPr>
          <a:lstStyle/>
          <a:p>
            <a:r>
              <a:rPr kumimoji="1" lang="ja-JP" altLang="en-US" sz="1700">
                <a:solidFill>
                  <a:srgbClr val="202A38"/>
                </a:solidFill>
                <a:latin typeface="Meiryo UI" panose="020B0604030504040204" pitchFamily="50" charset="-128"/>
              </a:rPr>
              <a:t>そのため、実装では「プレイヤー成長」と「武器ごとの役割差」をゲーム全体の主題として設計している。</a:t>
            </a:r>
          </a:p>
        </p:txBody>
      </p:sp>
      <p:sp>
        <p:nvSpPr>
          <p:cNvPr id="10" name="四角形: 角を丸くする 9">
            <a:extLst>
              <a:ext uri="{FF2B5EF4-FFF2-40B4-BE49-F238E27FC236}">
                <a16:creationId xmlns:a16="http://schemas.microsoft.com/office/drawing/2014/main" id="{28CBA16A-4C4F-6D8F-03C3-DD43185586A7}"/>
              </a:ext>
            </a:extLst>
          </p:cNvPr>
          <p:cNvSpPr/>
          <p:nvPr/>
        </p:nvSpPr>
        <p:spPr>
          <a:xfrm>
            <a:off x="10350500" y="3175000"/>
            <a:ext cx="2540000" cy="1117600"/>
          </a:xfrm>
          <a:prstGeom prst="roundRect">
            <a:avLst/>
          </a:prstGeom>
          <a:solidFill>
            <a:srgbClr val="DEECF5"/>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2000" b="1">
                <a:solidFill>
                  <a:srgbClr val="202A38"/>
                </a:solidFill>
                <a:latin typeface="Meiryo UI" panose="020B0604030504040204" pitchFamily="50" charset="-128"/>
              </a:rPr>
              <a:t>3D Survival Action</a:t>
            </a:r>
            <a:endParaRPr kumimoji="1" lang="ja-JP" altLang="en-US" sz="2000" b="1">
              <a:solidFill>
                <a:srgbClr val="202A38"/>
              </a:solidFill>
              <a:latin typeface="Meiryo UI" panose="020B0604030504040204" pitchFamily="50" charset="-128"/>
            </a:endParaRPr>
          </a:p>
        </p:txBody>
      </p:sp>
      <p:sp>
        <p:nvSpPr>
          <p:cNvPr id="11" name="四角形: 角を丸くする 10">
            <a:extLst>
              <a:ext uri="{FF2B5EF4-FFF2-40B4-BE49-F238E27FC236}">
                <a16:creationId xmlns:a16="http://schemas.microsoft.com/office/drawing/2014/main" id="{479C7E68-512F-4645-99E9-658DEB96720A}"/>
              </a:ext>
            </a:extLst>
          </p:cNvPr>
          <p:cNvSpPr/>
          <p:nvPr/>
        </p:nvSpPr>
        <p:spPr>
          <a:xfrm>
            <a:off x="8864600" y="1778000"/>
            <a:ext cx="1778000" cy="787400"/>
          </a:xfrm>
          <a:prstGeom prst="roundRect">
            <a:avLst/>
          </a:prstGeom>
          <a:solidFill>
            <a:srgbClr val="EAF0DE"/>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800" b="1">
                <a:solidFill>
                  <a:srgbClr val="202A38"/>
                </a:solidFill>
                <a:latin typeface="Meiryo UI" panose="020B0604030504040204" pitchFamily="50" charset="-128"/>
              </a:rPr>
              <a:t>Scene</a:t>
            </a:r>
            <a:endParaRPr kumimoji="1" lang="ja-JP" altLang="en-US" sz="1800" b="1">
              <a:solidFill>
                <a:srgbClr val="202A38"/>
              </a:solidFill>
              <a:latin typeface="Meiryo UI" panose="020B0604030504040204" pitchFamily="50" charset="-128"/>
            </a:endParaRPr>
          </a:p>
        </p:txBody>
      </p:sp>
      <p:sp>
        <p:nvSpPr>
          <p:cNvPr id="12" name="四角形: 角を丸くする 11">
            <a:extLst>
              <a:ext uri="{FF2B5EF4-FFF2-40B4-BE49-F238E27FC236}">
                <a16:creationId xmlns:a16="http://schemas.microsoft.com/office/drawing/2014/main" id="{2C462EDD-A7A9-217A-549B-71A5C2E88DC6}"/>
              </a:ext>
            </a:extLst>
          </p:cNvPr>
          <p:cNvSpPr/>
          <p:nvPr/>
        </p:nvSpPr>
        <p:spPr>
          <a:xfrm>
            <a:off x="12763500" y="1778000"/>
            <a:ext cx="1778000" cy="787400"/>
          </a:xfrm>
          <a:prstGeom prst="roundRect">
            <a:avLst/>
          </a:prstGeom>
          <a:solidFill>
            <a:srgbClr val="F8E8D5"/>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800" b="1">
                <a:solidFill>
                  <a:srgbClr val="202A38"/>
                </a:solidFill>
                <a:latin typeface="Meiryo UI" panose="020B0604030504040204" pitchFamily="50" charset="-128"/>
              </a:rPr>
              <a:t>Weapon</a:t>
            </a:r>
            <a:endParaRPr kumimoji="1" lang="ja-JP" altLang="en-US" sz="1800" b="1">
              <a:solidFill>
                <a:srgbClr val="202A38"/>
              </a:solidFill>
              <a:latin typeface="Meiryo UI" panose="020B0604030504040204" pitchFamily="50" charset="-128"/>
            </a:endParaRPr>
          </a:p>
        </p:txBody>
      </p:sp>
      <p:sp>
        <p:nvSpPr>
          <p:cNvPr id="13" name="四角形: 角を丸くする 12">
            <a:extLst>
              <a:ext uri="{FF2B5EF4-FFF2-40B4-BE49-F238E27FC236}">
                <a16:creationId xmlns:a16="http://schemas.microsoft.com/office/drawing/2014/main" id="{B2204395-4AE7-16EA-702B-F5D9B362C3E0}"/>
              </a:ext>
            </a:extLst>
          </p:cNvPr>
          <p:cNvSpPr/>
          <p:nvPr/>
        </p:nvSpPr>
        <p:spPr>
          <a:xfrm>
            <a:off x="8864600" y="5143500"/>
            <a:ext cx="1778000" cy="787400"/>
          </a:xfrm>
          <a:prstGeom prst="roundRect">
            <a:avLst/>
          </a:prstGeom>
          <a:solidFill>
            <a:srgbClr val="EBE1F2"/>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800" b="1">
                <a:solidFill>
                  <a:srgbClr val="202A38"/>
                </a:solidFill>
                <a:latin typeface="Meiryo UI" panose="020B0604030504040204" pitchFamily="50" charset="-128"/>
              </a:rPr>
              <a:t>Enemy</a:t>
            </a:r>
            <a:endParaRPr kumimoji="1" lang="ja-JP" altLang="en-US" sz="1800" b="1">
              <a:solidFill>
                <a:srgbClr val="202A38"/>
              </a:solidFill>
              <a:latin typeface="Meiryo UI" panose="020B0604030504040204" pitchFamily="50" charset="-128"/>
            </a:endParaRPr>
          </a:p>
        </p:txBody>
      </p:sp>
      <p:sp>
        <p:nvSpPr>
          <p:cNvPr id="14" name="四角形: 角を丸くする 13">
            <a:extLst>
              <a:ext uri="{FF2B5EF4-FFF2-40B4-BE49-F238E27FC236}">
                <a16:creationId xmlns:a16="http://schemas.microsoft.com/office/drawing/2014/main" id="{2149E61C-2DB8-DF4C-E9A7-B751EA6E2480}"/>
              </a:ext>
            </a:extLst>
          </p:cNvPr>
          <p:cNvSpPr/>
          <p:nvPr/>
        </p:nvSpPr>
        <p:spPr>
          <a:xfrm>
            <a:off x="12763500" y="5143500"/>
            <a:ext cx="1778000" cy="787400"/>
          </a:xfrm>
          <a:prstGeom prst="roundRect">
            <a:avLst/>
          </a:prstGeom>
          <a:solidFill>
            <a:srgbClr val="EAF0DE"/>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800" b="1">
                <a:solidFill>
                  <a:srgbClr val="202A38"/>
                </a:solidFill>
                <a:latin typeface="Meiryo UI" panose="020B0604030504040204" pitchFamily="50" charset="-128"/>
              </a:rPr>
              <a:t>UI</a:t>
            </a:r>
            <a:endParaRPr kumimoji="1" lang="ja-JP" altLang="en-US" sz="1800" b="1">
              <a:solidFill>
                <a:srgbClr val="202A38"/>
              </a:solidFill>
              <a:latin typeface="Meiryo UI" panose="020B0604030504040204" pitchFamily="50" charset="-128"/>
            </a:endParaRPr>
          </a:p>
        </p:txBody>
      </p:sp>
      <p:cxnSp>
        <p:nvCxnSpPr>
          <p:cNvPr id="15" name="直線コネクタ 14">
            <a:extLst>
              <a:ext uri="{FF2B5EF4-FFF2-40B4-BE49-F238E27FC236}">
                <a16:creationId xmlns:a16="http://schemas.microsoft.com/office/drawing/2014/main" id="{0346401E-1C5A-C18C-6635-988CE3CFD9A3}"/>
              </a:ext>
            </a:extLst>
          </p:cNvPr>
          <p:cNvCxnSpPr/>
          <p:nvPr/>
        </p:nvCxnSpPr>
        <p:spPr>
          <a:xfrm>
            <a:off x="10668000" y="2895600"/>
            <a:ext cx="762000" cy="279400"/>
          </a:xfrm>
          <a:prstGeom prst="line">
            <a:avLst/>
          </a:prstGeom>
          <a:ln>
            <a:solidFill>
              <a:srgbClr val="0D718C"/>
            </a:solidFill>
          </a:ln>
        </p:spPr>
        <p:style>
          <a:lnRef idx="2">
            <a:schemeClr val="accent1"/>
          </a:lnRef>
          <a:fillRef idx="0">
            <a:schemeClr val="accent1"/>
          </a:fillRef>
          <a:effectRef idx="1">
            <a:schemeClr val="accent1"/>
          </a:effectRef>
          <a:fontRef idx="minor">
            <a:schemeClr val="tx1"/>
          </a:fontRef>
        </p:style>
      </p:cxnSp>
      <p:cxnSp>
        <p:nvCxnSpPr>
          <p:cNvPr id="16" name="直線コネクタ 15">
            <a:extLst>
              <a:ext uri="{FF2B5EF4-FFF2-40B4-BE49-F238E27FC236}">
                <a16:creationId xmlns:a16="http://schemas.microsoft.com/office/drawing/2014/main" id="{2358999B-3E88-E132-C575-E99C6F02B464}"/>
              </a:ext>
            </a:extLst>
          </p:cNvPr>
          <p:cNvCxnSpPr/>
          <p:nvPr/>
        </p:nvCxnSpPr>
        <p:spPr>
          <a:xfrm flipH="1">
            <a:off x="12700000" y="2565400"/>
            <a:ext cx="508000" cy="609600"/>
          </a:xfrm>
          <a:prstGeom prst="line">
            <a:avLst/>
          </a:prstGeom>
          <a:ln>
            <a:solidFill>
              <a:srgbClr val="0D718C"/>
            </a:solidFill>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F16E61C4-F25C-6B22-22DD-AA8810F9E08B}"/>
              </a:ext>
            </a:extLst>
          </p:cNvPr>
          <p:cNvCxnSpPr/>
          <p:nvPr/>
        </p:nvCxnSpPr>
        <p:spPr>
          <a:xfrm flipV="1">
            <a:off x="10668000" y="4292600"/>
            <a:ext cx="762000" cy="850900"/>
          </a:xfrm>
          <a:prstGeom prst="line">
            <a:avLst/>
          </a:prstGeom>
          <a:ln>
            <a:solidFill>
              <a:srgbClr val="0D718C"/>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E318E7A3-43DD-F049-5014-4BDE78463534}"/>
              </a:ext>
            </a:extLst>
          </p:cNvPr>
          <p:cNvCxnSpPr/>
          <p:nvPr/>
        </p:nvCxnSpPr>
        <p:spPr>
          <a:xfrm flipH="1" flipV="1">
            <a:off x="12700000" y="4292600"/>
            <a:ext cx="508000" cy="850900"/>
          </a:xfrm>
          <a:prstGeom prst="line">
            <a:avLst/>
          </a:prstGeom>
          <a:ln>
            <a:solidFill>
              <a:srgbClr val="0D7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25444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87DADD30-69FF-2739-1CED-6153834926EF}"/>
              </a:ext>
            </a:extLst>
          </p:cNvPr>
          <p:cNvSpPr/>
          <p:nvPr/>
        </p:nvSpPr>
        <p:spPr>
          <a:xfrm>
            <a:off x="609600" y="609600"/>
            <a:ext cx="15036800" cy="7924800"/>
          </a:xfrm>
          <a:prstGeom prst="rect">
            <a:avLst/>
          </a:prstGeom>
          <a:solidFill>
            <a:srgbClr val="E8EDF3"/>
          </a:solidFill>
          <a:ln w="15875">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BAD0E716-6C86-D49C-3E86-5E0C67932313}"/>
              </a:ext>
            </a:extLst>
          </p:cNvPr>
          <p:cNvSpPr/>
          <p:nvPr/>
        </p:nvSpPr>
        <p:spPr>
          <a:xfrm>
            <a:off x="914400" y="1371600"/>
            <a:ext cx="6604000" cy="6604000"/>
          </a:xfrm>
          <a:prstGeom prst="rect">
            <a:avLst/>
          </a:prstGeom>
          <a:solidFill>
            <a:srgbClr val="FFFFFF"/>
          </a:solidFill>
          <a:ln w="15875">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EDECC2F9-F633-F0E5-FBF9-D3ED7797A25D}"/>
              </a:ext>
            </a:extLst>
          </p:cNvPr>
          <p:cNvSpPr/>
          <p:nvPr/>
        </p:nvSpPr>
        <p:spPr>
          <a:xfrm>
            <a:off x="7975600" y="1371600"/>
            <a:ext cx="7366000" cy="6604000"/>
          </a:xfrm>
          <a:prstGeom prst="rect">
            <a:avLst/>
          </a:prstGeom>
          <a:solidFill>
            <a:srgbClr val="FFFFFF"/>
          </a:solidFill>
          <a:ln w="15875">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7FD80F28-AFD9-1647-A92A-93F2049D063F}"/>
              </a:ext>
            </a:extLst>
          </p:cNvPr>
          <p:cNvSpPr/>
          <p:nvPr/>
        </p:nvSpPr>
        <p:spPr>
          <a:xfrm>
            <a:off x="914400" y="787400"/>
            <a:ext cx="1473200" cy="381000"/>
          </a:xfrm>
          <a:prstGeom prst="roundRect">
            <a:avLst/>
          </a:prstGeom>
          <a:solidFill>
            <a:srgbClr val="0D718C"/>
          </a:solidFill>
          <a:ln w="12700">
            <a:solidFill>
              <a:srgbClr val="0D71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400" b="1">
                <a:solidFill>
                  <a:srgbClr val="FFFFFF"/>
                </a:solidFill>
                <a:latin typeface="Meiryo UI" panose="020B0604030504040204" pitchFamily="50" charset="-128"/>
              </a:rPr>
              <a:t>SCENE</a:t>
            </a:r>
            <a:endParaRPr kumimoji="1" lang="ja-JP" altLang="en-US" sz="1400" b="1">
              <a:solidFill>
                <a:srgbClr val="FFFFFF"/>
              </a:solidFill>
              <a:latin typeface="Meiryo UI" panose="020B0604030504040204" pitchFamily="50" charset="-128"/>
            </a:endParaRPr>
          </a:p>
        </p:txBody>
      </p:sp>
      <p:sp>
        <p:nvSpPr>
          <p:cNvPr id="6" name="テキスト ボックス 5">
            <a:extLst>
              <a:ext uri="{FF2B5EF4-FFF2-40B4-BE49-F238E27FC236}">
                <a16:creationId xmlns:a16="http://schemas.microsoft.com/office/drawing/2014/main" id="{5614F3D8-E99B-6D2C-E082-7BF4B088D585}"/>
              </a:ext>
            </a:extLst>
          </p:cNvPr>
          <p:cNvSpPr txBox="1"/>
          <p:nvPr/>
        </p:nvSpPr>
        <p:spPr>
          <a:xfrm>
            <a:off x="2603500" y="685377"/>
            <a:ext cx="7112000" cy="461665"/>
          </a:xfrm>
          <a:prstGeom prst="rect">
            <a:avLst/>
          </a:prstGeom>
          <a:noFill/>
        </p:spPr>
        <p:txBody>
          <a:bodyPr vert="horz" wrap="square" rtlCol="0" anchor="ctr">
            <a:spAutoFit/>
          </a:bodyPr>
          <a:lstStyle/>
          <a:p>
            <a:r>
              <a:rPr kumimoji="1" lang="ja-JP" altLang="en-US" sz="2400" b="1">
                <a:solidFill>
                  <a:srgbClr val="202A38"/>
                </a:solidFill>
                <a:latin typeface="Yu Gothic UI Semibold" panose="020B0700000000000000" pitchFamily="50" charset="-128"/>
              </a:rPr>
              <a:t>シーン管理</a:t>
            </a:r>
          </a:p>
        </p:txBody>
      </p:sp>
      <p:sp>
        <p:nvSpPr>
          <p:cNvPr id="7" name="テキスト ボックス 6">
            <a:extLst>
              <a:ext uri="{FF2B5EF4-FFF2-40B4-BE49-F238E27FC236}">
                <a16:creationId xmlns:a16="http://schemas.microsoft.com/office/drawing/2014/main" id="{BE866066-69F5-5C0F-0C8C-435B739A7406}"/>
              </a:ext>
            </a:extLst>
          </p:cNvPr>
          <p:cNvSpPr txBox="1"/>
          <p:nvPr/>
        </p:nvSpPr>
        <p:spPr>
          <a:xfrm>
            <a:off x="1219200" y="1757875"/>
            <a:ext cx="5842000" cy="615553"/>
          </a:xfrm>
          <a:prstGeom prst="rect">
            <a:avLst/>
          </a:prstGeom>
          <a:noFill/>
        </p:spPr>
        <p:txBody>
          <a:bodyPr vert="horz" wrap="square" rtlCol="0" anchor="ctr">
            <a:spAutoFit/>
          </a:bodyPr>
          <a:lstStyle/>
          <a:p>
            <a:r>
              <a:rPr kumimoji="1" lang="ja-JP" altLang="en-US" sz="1700">
                <a:solidFill>
                  <a:srgbClr val="202A38"/>
                </a:solidFill>
                <a:latin typeface="Meiryo UI" panose="020B0604030504040204" pitchFamily="50" charset="-128"/>
              </a:rPr>
              <a:t>シーンは </a:t>
            </a:r>
            <a:r>
              <a:rPr kumimoji="1" lang="en-US" altLang="ja-JP" sz="1700">
                <a:solidFill>
                  <a:srgbClr val="202A38"/>
                </a:solidFill>
                <a:latin typeface="Meiryo UI" panose="020B0604030504040204" pitchFamily="50" charset="-128"/>
              </a:rPr>
              <a:t>SceneManager </a:t>
            </a:r>
            <a:r>
              <a:rPr kumimoji="1" lang="ja-JP" altLang="en-US" sz="1700">
                <a:solidFill>
                  <a:srgbClr val="202A38"/>
                </a:solidFill>
                <a:latin typeface="Meiryo UI" panose="020B0604030504040204" pitchFamily="50" charset="-128"/>
              </a:rPr>
              <a:t>に登録し、共通インターフェースで生成・更新・描画・終了処理を統一した。</a:t>
            </a:r>
          </a:p>
        </p:txBody>
      </p:sp>
      <p:sp>
        <p:nvSpPr>
          <p:cNvPr id="8" name="テキスト ボックス 7">
            <a:extLst>
              <a:ext uri="{FF2B5EF4-FFF2-40B4-BE49-F238E27FC236}">
                <a16:creationId xmlns:a16="http://schemas.microsoft.com/office/drawing/2014/main" id="{6347BD4D-F057-EED2-B2F7-2FBF0A8E3044}"/>
              </a:ext>
            </a:extLst>
          </p:cNvPr>
          <p:cNvSpPr txBox="1"/>
          <p:nvPr/>
        </p:nvSpPr>
        <p:spPr>
          <a:xfrm>
            <a:off x="1219200" y="2363670"/>
            <a:ext cx="5842000" cy="877163"/>
          </a:xfrm>
          <a:prstGeom prst="rect">
            <a:avLst/>
          </a:prstGeom>
          <a:noFill/>
        </p:spPr>
        <p:txBody>
          <a:bodyPr vert="horz" wrap="square" rtlCol="0" anchor="ctr">
            <a:spAutoFit/>
          </a:bodyPr>
          <a:lstStyle/>
          <a:p>
            <a:r>
              <a:rPr kumimoji="1" lang="en-US" altLang="ja-JP" sz="1700">
                <a:solidFill>
                  <a:srgbClr val="202A38"/>
                </a:solidFill>
                <a:latin typeface="Meiryo UI" panose="020B0604030504040204" pitchFamily="50" charset="-128"/>
              </a:rPr>
              <a:t>GameSessionContext </a:t>
            </a:r>
            <a:r>
              <a:rPr kumimoji="1" lang="ja-JP" altLang="en-US" sz="1700">
                <a:solidFill>
                  <a:srgbClr val="202A38"/>
                </a:solidFill>
                <a:latin typeface="Meiryo UI" panose="020B0604030504040204" pitchFamily="50" charset="-128"/>
              </a:rPr>
              <a:t>を共有することで、ゲーム中に集計した </a:t>
            </a:r>
            <a:r>
              <a:rPr kumimoji="1" lang="en-US" altLang="ja-JP" sz="1700">
                <a:solidFill>
                  <a:srgbClr val="202A38"/>
                </a:solidFill>
                <a:latin typeface="Meiryo UI" panose="020B0604030504040204" pitchFamily="50" charset="-128"/>
              </a:rPr>
              <a:t>EXP</a:t>
            </a:r>
            <a:r>
              <a:rPr kumimoji="1" lang="ja-JP" altLang="en-US" sz="1700">
                <a:solidFill>
                  <a:srgbClr val="202A38"/>
                </a:solidFill>
                <a:latin typeface="Meiryo UI" panose="020B0604030504040204" pitchFamily="50" charset="-128"/>
              </a:rPr>
              <a:t>、レベル、キル数をリザルトへ安全に引き渡している。</a:t>
            </a:r>
          </a:p>
        </p:txBody>
      </p:sp>
      <p:sp>
        <p:nvSpPr>
          <p:cNvPr id="9" name="テキスト ボックス 8">
            <a:extLst>
              <a:ext uri="{FF2B5EF4-FFF2-40B4-BE49-F238E27FC236}">
                <a16:creationId xmlns:a16="http://schemas.microsoft.com/office/drawing/2014/main" id="{9747F282-0365-9CA8-15DE-5FAFACCAD845}"/>
              </a:ext>
            </a:extLst>
          </p:cNvPr>
          <p:cNvSpPr txBox="1"/>
          <p:nvPr/>
        </p:nvSpPr>
        <p:spPr>
          <a:xfrm>
            <a:off x="1219200" y="3231075"/>
            <a:ext cx="5842000" cy="615553"/>
          </a:xfrm>
          <a:prstGeom prst="rect">
            <a:avLst/>
          </a:prstGeom>
          <a:noFill/>
        </p:spPr>
        <p:txBody>
          <a:bodyPr vert="horz" wrap="square" rtlCol="0" anchor="ctr">
            <a:spAutoFit/>
          </a:bodyPr>
          <a:lstStyle/>
          <a:p>
            <a:r>
              <a:rPr kumimoji="1" lang="ja-JP" altLang="en-US" sz="1700">
                <a:solidFill>
                  <a:srgbClr val="202A38"/>
                </a:solidFill>
                <a:latin typeface="Meiryo UI" panose="020B0604030504040204" pitchFamily="50" charset="-128"/>
              </a:rPr>
              <a:t>この構造により、画面ごとの責務を分けつつ、遷移時のデータ受け渡しをシンプルに保てた。</a:t>
            </a:r>
          </a:p>
        </p:txBody>
      </p:sp>
      <p:sp>
        <p:nvSpPr>
          <p:cNvPr id="10" name="四角形: 角を丸くする 9">
            <a:extLst>
              <a:ext uri="{FF2B5EF4-FFF2-40B4-BE49-F238E27FC236}">
                <a16:creationId xmlns:a16="http://schemas.microsoft.com/office/drawing/2014/main" id="{33277071-8F54-1345-3E3D-3D2C42BAD1F8}"/>
              </a:ext>
            </a:extLst>
          </p:cNvPr>
          <p:cNvSpPr/>
          <p:nvPr/>
        </p:nvSpPr>
        <p:spPr>
          <a:xfrm>
            <a:off x="8699500" y="3365500"/>
            <a:ext cx="1524000" cy="812800"/>
          </a:xfrm>
          <a:prstGeom prst="roundRect">
            <a:avLst/>
          </a:prstGeom>
          <a:solidFill>
            <a:srgbClr val="EAF0DE"/>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800" b="1">
                <a:solidFill>
                  <a:srgbClr val="202A38"/>
                </a:solidFill>
                <a:latin typeface="Meiryo UI" panose="020B0604030504040204" pitchFamily="50" charset="-128"/>
              </a:rPr>
              <a:t>Title</a:t>
            </a:r>
            <a:endParaRPr kumimoji="1" lang="ja-JP" altLang="en-US" sz="1800" b="1">
              <a:solidFill>
                <a:srgbClr val="202A38"/>
              </a:solidFill>
              <a:latin typeface="Meiryo UI" panose="020B0604030504040204" pitchFamily="50" charset="-128"/>
            </a:endParaRPr>
          </a:p>
        </p:txBody>
      </p:sp>
      <p:sp>
        <p:nvSpPr>
          <p:cNvPr id="11" name="四角形: 角を丸くする 10">
            <a:extLst>
              <a:ext uri="{FF2B5EF4-FFF2-40B4-BE49-F238E27FC236}">
                <a16:creationId xmlns:a16="http://schemas.microsoft.com/office/drawing/2014/main" id="{B2308AD9-7D62-9652-925C-A2B62BD61266}"/>
              </a:ext>
            </a:extLst>
          </p:cNvPr>
          <p:cNvSpPr/>
          <p:nvPr/>
        </p:nvSpPr>
        <p:spPr>
          <a:xfrm>
            <a:off x="10858500" y="3365500"/>
            <a:ext cx="1524000" cy="812800"/>
          </a:xfrm>
          <a:prstGeom prst="roundRect">
            <a:avLst/>
          </a:prstGeom>
          <a:solidFill>
            <a:srgbClr val="F8E8D5"/>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800" b="1">
                <a:solidFill>
                  <a:srgbClr val="202A38"/>
                </a:solidFill>
                <a:latin typeface="Meiryo UI" panose="020B0604030504040204" pitchFamily="50" charset="-128"/>
              </a:rPr>
              <a:t>Game</a:t>
            </a:r>
            <a:endParaRPr kumimoji="1" lang="ja-JP" altLang="en-US" sz="1800" b="1">
              <a:solidFill>
                <a:srgbClr val="202A38"/>
              </a:solidFill>
              <a:latin typeface="Meiryo UI" panose="020B0604030504040204" pitchFamily="50" charset="-128"/>
            </a:endParaRPr>
          </a:p>
        </p:txBody>
      </p:sp>
      <p:sp>
        <p:nvSpPr>
          <p:cNvPr id="12" name="四角形: 角を丸くする 11">
            <a:extLst>
              <a:ext uri="{FF2B5EF4-FFF2-40B4-BE49-F238E27FC236}">
                <a16:creationId xmlns:a16="http://schemas.microsoft.com/office/drawing/2014/main" id="{50F3937A-9041-A915-220C-9E3C3DE75A08}"/>
              </a:ext>
            </a:extLst>
          </p:cNvPr>
          <p:cNvSpPr/>
          <p:nvPr/>
        </p:nvSpPr>
        <p:spPr>
          <a:xfrm>
            <a:off x="13017500" y="3365500"/>
            <a:ext cx="1524000" cy="812800"/>
          </a:xfrm>
          <a:prstGeom prst="roundRect">
            <a:avLst/>
          </a:prstGeom>
          <a:solidFill>
            <a:srgbClr val="EBE1F2"/>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800" b="1">
                <a:solidFill>
                  <a:srgbClr val="202A38"/>
                </a:solidFill>
                <a:latin typeface="Meiryo UI" panose="020B0604030504040204" pitchFamily="50" charset="-128"/>
              </a:rPr>
              <a:t>Result</a:t>
            </a:r>
            <a:endParaRPr kumimoji="1" lang="ja-JP" altLang="en-US" sz="1800" b="1">
              <a:solidFill>
                <a:srgbClr val="202A38"/>
              </a:solidFill>
              <a:latin typeface="Meiryo UI" panose="020B0604030504040204" pitchFamily="50" charset="-128"/>
            </a:endParaRPr>
          </a:p>
        </p:txBody>
      </p:sp>
      <p:sp>
        <p:nvSpPr>
          <p:cNvPr id="13" name="矢印: 右 12">
            <a:extLst>
              <a:ext uri="{FF2B5EF4-FFF2-40B4-BE49-F238E27FC236}">
                <a16:creationId xmlns:a16="http://schemas.microsoft.com/office/drawing/2014/main" id="{B945DA41-E34D-9927-87F9-7C7E5201C9B7}"/>
              </a:ext>
            </a:extLst>
          </p:cNvPr>
          <p:cNvSpPr/>
          <p:nvPr/>
        </p:nvSpPr>
        <p:spPr>
          <a:xfrm>
            <a:off x="10261600" y="3581400"/>
            <a:ext cx="533400" cy="355600"/>
          </a:xfrm>
          <a:prstGeom prst="rightArrow">
            <a:avLst/>
          </a:prstGeom>
          <a:solidFill>
            <a:srgbClr val="0D718C"/>
          </a:solidFill>
          <a:ln>
            <a:solidFill>
              <a:srgbClr val="0D71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矢印: 右 13">
            <a:extLst>
              <a:ext uri="{FF2B5EF4-FFF2-40B4-BE49-F238E27FC236}">
                <a16:creationId xmlns:a16="http://schemas.microsoft.com/office/drawing/2014/main" id="{3849C549-D7D8-21C0-82BE-2766C205F157}"/>
              </a:ext>
            </a:extLst>
          </p:cNvPr>
          <p:cNvSpPr/>
          <p:nvPr/>
        </p:nvSpPr>
        <p:spPr>
          <a:xfrm>
            <a:off x="12420600" y="3581400"/>
            <a:ext cx="533400" cy="355600"/>
          </a:xfrm>
          <a:prstGeom prst="rightArrow">
            <a:avLst/>
          </a:prstGeom>
          <a:solidFill>
            <a:srgbClr val="0D718C"/>
          </a:solidFill>
          <a:ln>
            <a:solidFill>
              <a:srgbClr val="0D71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670116D8-8700-9D36-2A05-59DB7BD99915}"/>
              </a:ext>
            </a:extLst>
          </p:cNvPr>
          <p:cNvSpPr/>
          <p:nvPr/>
        </p:nvSpPr>
        <p:spPr>
          <a:xfrm>
            <a:off x="10477500" y="4953000"/>
            <a:ext cx="2286000" cy="914400"/>
          </a:xfrm>
          <a:prstGeom prst="roundRect">
            <a:avLst/>
          </a:prstGeom>
          <a:solidFill>
            <a:srgbClr val="DEECF5"/>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600" b="1">
                <a:solidFill>
                  <a:srgbClr val="202A38"/>
                </a:solidFill>
                <a:latin typeface="Meiryo UI" panose="020B0604030504040204" pitchFamily="50" charset="-128"/>
              </a:rPr>
              <a:t>GameSessionContext
resultData </a:t>
            </a:r>
            <a:r>
              <a:rPr kumimoji="1" lang="ja-JP" altLang="en-US" sz="1600" b="1">
                <a:solidFill>
                  <a:srgbClr val="202A38"/>
                </a:solidFill>
                <a:latin typeface="Meiryo UI" panose="020B0604030504040204" pitchFamily="50" charset="-128"/>
              </a:rPr>
              <a:t>を共有</a:t>
            </a:r>
          </a:p>
        </p:txBody>
      </p:sp>
      <p:cxnSp>
        <p:nvCxnSpPr>
          <p:cNvPr id="16" name="直線コネクタ 15">
            <a:extLst>
              <a:ext uri="{FF2B5EF4-FFF2-40B4-BE49-F238E27FC236}">
                <a16:creationId xmlns:a16="http://schemas.microsoft.com/office/drawing/2014/main" id="{02CBF370-D370-062D-A1E5-C4AA6AD4006C}"/>
              </a:ext>
            </a:extLst>
          </p:cNvPr>
          <p:cNvCxnSpPr/>
          <p:nvPr/>
        </p:nvCxnSpPr>
        <p:spPr>
          <a:xfrm>
            <a:off x="11620500" y="4178300"/>
            <a:ext cx="0" cy="774700"/>
          </a:xfrm>
          <a:prstGeom prst="line">
            <a:avLst/>
          </a:prstGeom>
          <a:ln>
            <a:solidFill>
              <a:srgbClr val="0D7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5887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43C13D6D-FE85-AFEF-0F23-462758B51C37}"/>
              </a:ext>
            </a:extLst>
          </p:cNvPr>
          <p:cNvSpPr/>
          <p:nvPr/>
        </p:nvSpPr>
        <p:spPr>
          <a:xfrm>
            <a:off x="609600" y="609600"/>
            <a:ext cx="15036800" cy="7924800"/>
          </a:xfrm>
          <a:prstGeom prst="rect">
            <a:avLst/>
          </a:prstGeom>
          <a:solidFill>
            <a:srgbClr val="E8EDF3"/>
          </a:solidFill>
          <a:ln w="15875">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97599A4D-4491-8B1F-2037-5F07D940BB6C}"/>
              </a:ext>
            </a:extLst>
          </p:cNvPr>
          <p:cNvSpPr/>
          <p:nvPr/>
        </p:nvSpPr>
        <p:spPr>
          <a:xfrm>
            <a:off x="914400" y="1371600"/>
            <a:ext cx="6604000" cy="6604000"/>
          </a:xfrm>
          <a:prstGeom prst="rect">
            <a:avLst/>
          </a:prstGeom>
          <a:solidFill>
            <a:srgbClr val="FFFFFF"/>
          </a:solidFill>
          <a:ln w="15875">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DC5362B7-C231-6F20-436C-539DC18D79FF}"/>
              </a:ext>
            </a:extLst>
          </p:cNvPr>
          <p:cNvSpPr/>
          <p:nvPr/>
        </p:nvSpPr>
        <p:spPr>
          <a:xfrm>
            <a:off x="7975600" y="1371600"/>
            <a:ext cx="7366000" cy="6604000"/>
          </a:xfrm>
          <a:prstGeom prst="rect">
            <a:avLst/>
          </a:prstGeom>
          <a:solidFill>
            <a:srgbClr val="FFFFFF"/>
          </a:solidFill>
          <a:ln w="15875">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2E150B4E-6B9A-A1A7-008A-E36099E46D19}"/>
              </a:ext>
            </a:extLst>
          </p:cNvPr>
          <p:cNvSpPr/>
          <p:nvPr/>
        </p:nvSpPr>
        <p:spPr>
          <a:xfrm>
            <a:off x="914400" y="787400"/>
            <a:ext cx="1473200" cy="381000"/>
          </a:xfrm>
          <a:prstGeom prst="roundRect">
            <a:avLst/>
          </a:prstGeom>
          <a:solidFill>
            <a:srgbClr val="0D718C"/>
          </a:solidFill>
          <a:ln w="12700">
            <a:solidFill>
              <a:srgbClr val="0D71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400" b="1">
                <a:solidFill>
                  <a:srgbClr val="FFFFFF"/>
                </a:solidFill>
                <a:latin typeface="Meiryo UI" panose="020B0604030504040204" pitchFamily="50" charset="-128"/>
              </a:rPr>
              <a:t>MAIN</a:t>
            </a:r>
            <a:endParaRPr kumimoji="1" lang="ja-JP" altLang="en-US" sz="1400" b="1">
              <a:solidFill>
                <a:srgbClr val="FFFFFF"/>
              </a:solidFill>
              <a:latin typeface="Meiryo UI" panose="020B0604030504040204" pitchFamily="50" charset="-128"/>
            </a:endParaRPr>
          </a:p>
        </p:txBody>
      </p:sp>
      <p:sp>
        <p:nvSpPr>
          <p:cNvPr id="6" name="テキスト ボックス 5">
            <a:extLst>
              <a:ext uri="{FF2B5EF4-FFF2-40B4-BE49-F238E27FC236}">
                <a16:creationId xmlns:a16="http://schemas.microsoft.com/office/drawing/2014/main" id="{8E4FFB77-1C1B-0F7E-2126-9F69EC1A75C4}"/>
              </a:ext>
            </a:extLst>
          </p:cNvPr>
          <p:cNvSpPr txBox="1"/>
          <p:nvPr/>
        </p:nvSpPr>
        <p:spPr>
          <a:xfrm>
            <a:off x="2603500" y="685377"/>
            <a:ext cx="7112000" cy="461665"/>
          </a:xfrm>
          <a:prstGeom prst="rect">
            <a:avLst/>
          </a:prstGeom>
          <a:noFill/>
        </p:spPr>
        <p:txBody>
          <a:bodyPr vert="horz" wrap="square" rtlCol="0" anchor="ctr">
            <a:spAutoFit/>
          </a:bodyPr>
          <a:lstStyle/>
          <a:p>
            <a:r>
              <a:rPr kumimoji="1" lang="ja-JP" altLang="en-US" sz="2400" b="1">
                <a:solidFill>
                  <a:srgbClr val="202A38"/>
                </a:solidFill>
                <a:latin typeface="Yu Gothic UI Semibold" panose="020B0700000000000000" pitchFamily="50" charset="-128"/>
              </a:rPr>
              <a:t>主軸 </a:t>
            </a:r>
            <a:r>
              <a:rPr kumimoji="1" lang="en-US" altLang="ja-JP" sz="2400" b="1">
                <a:solidFill>
                  <a:srgbClr val="202A38"/>
                </a:solidFill>
                <a:latin typeface="Yu Gothic UI Semibold" panose="020B0700000000000000" pitchFamily="50" charset="-128"/>
              </a:rPr>
              <a:t>1: </a:t>
            </a:r>
            <a:r>
              <a:rPr kumimoji="1" lang="ja-JP" altLang="en-US" sz="2400" b="1">
                <a:solidFill>
                  <a:srgbClr val="202A38"/>
                </a:solidFill>
                <a:latin typeface="Yu Gothic UI Semibold" panose="020B0700000000000000" pitchFamily="50" charset="-128"/>
              </a:rPr>
              <a:t>武器システムの構造</a:t>
            </a:r>
          </a:p>
        </p:txBody>
      </p:sp>
      <p:sp>
        <p:nvSpPr>
          <p:cNvPr id="7" name="テキスト ボックス 6">
            <a:extLst>
              <a:ext uri="{FF2B5EF4-FFF2-40B4-BE49-F238E27FC236}">
                <a16:creationId xmlns:a16="http://schemas.microsoft.com/office/drawing/2014/main" id="{F51B5DD5-9B3B-FF13-C26F-29995882D518}"/>
              </a:ext>
            </a:extLst>
          </p:cNvPr>
          <p:cNvSpPr txBox="1"/>
          <p:nvPr/>
        </p:nvSpPr>
        <p:spPr>
          <a:xfrm>
            <a:off x="1219200" y="1627070"/>
            <a:ext cx="5842000" cy="877163"/>
          </a:xfrm>
          <a:prstGeom prst="rect">
            <a:avLst/>
          </a:prstGeom>
          <a:noFill/>
        </p:spPr>
        <p:txBody>
          <a:bodyPr vert="horz" wrap="square" rtlCol="0" anchor="ctr">
            <a:spAutoFit/>
          </a:bodyPr>
          <a:lstStyle/>
          <a:p>
            <a:r>
              <a:rPr kumimoji="1" lang="ja-JP" altLang="en-US" sz="1700">
                <a:solidFill>
                  <a:srgbClr val="202A38"/>
                </a:solidFill>
                <a:latin typeface="Meiryo UI" panose="020B0604030504040204" pitchFamily="50" charset="-128"/>
              </a:rPr>
              <a:t>武器システムを主軸にした理由は、単発のアクションではなく、プレイ中に戦い方が変わる体験を作りたかったからである。</a:t>
            </a:r>
          </a:p>
        </p:txBody>
      </p:sp>
      <p:sp>
        <p:nvSpPr>
          <p:cNvPr id="8" name="テキスト ボックス 7">
            <a:extLst>
              <a:ext uri="{FF2B5EF4-FFF2-40B4-BE49-F238E27FC236}">
                <a16:creationId xmlns:a16="http://schemas.microsoft.com/office/drawing/2014/main" id="{BB532B2B-949F-6F25-3F4A-BFD5D51DB333}"/>
              </a:ext>
            </a:extLst>
          </p:cNvPr>
          <p:cNvSpPr txBox="1"/>
          <p:nvPr/>
        </p:nvSpPr>
        <p:spPr>
          <a:xfrm>
            <a:off x="1219200" y="2494475"/>
            <a:ext cx="5842000" cy="615553"/>
          </a:xfrm>
          <a:prstGeom prst="rect">
            <a:avLst/>
          </a:prstGeom>
          <a:noFill/>
        </p:spPr>
        <p:txBody>
          <a:bodyPr vert="horz" wrap="square" rtlCol="0" anchor="ctr">
            <a:spAutoFit/>
          </a:bodyPr>
          <a:lstStyle/>
          <a:p>
            <a:r>
              <a:rPr kumimoji="1" lang="ja-JP" altLang="en-US" sz="1700">
                <a:solidFill>
                  <a:srgbClr val="202A38"/>
                </a:solidFill>
                <a:latin typeface="Meiryo UI" panose="020B0604030504040204" pitchFamily="50" charset="-128"/>
              </a:rPr>
              <a:t>そこで通常弾、周囲弾、ドローン、ライトニングを独立した系統として分け、それぞれ異なる役割を持たせた。</a:t>
            </a:r>
          </a:p>
        </p:txBody>
      </p:sp>
      <p:sp>
        <p:nvSpPr>
          <p:cNvPr id="9" name="テキスト ボックス 8">
            <a:extLst>
              <a:ext uri="{FF2B5EF4-FFF2-40B4-BE49-F238E27FC236}">
                <a16:creationId xmlns:a16="http://schemas.microsoft.com/office/drawing/2014/main" id="{AA65285B-3FDA-7926-7493-04B6FAB0172C}"/>
              </a:ext>
            </a:extLst>
          </p:cNvPr>
          <p:cNvSpPr txBox="1"/>
          <p:nvPr/>
        </p:nvSpPr>
        <p:spPr>
          <a:xfrm>
            <a:off x="1219200" y="3231075"/>
            <a:ext cx="5842000" cy="615553"/>
          </a:xfrm>
          <a:prstGeom prst="rect">
            <a:avLst/>
          </a:prstGeom>
          <a:noFill/>
        </p:spPr>
        <p:txBody>
          <a:bodyPr vert="horz" wrap="square" rtlCol="0" anchor="ctr">
            <a:spAutoFit/>
          </a:bodyPr>
          <a:lstStyle/>
          <a:p>
            <a:r>
              <a:rPr kumimoji="1" lang="ja-JP" altLang="en-US" sz="1700">
                <a:solidFill>
                  <a:srgbClr val="202A38"/>
                </a:solidFill>
                <a:latin typeface="Meiryo UI" panose="020B0604030504040204" pitchFamily="50" charset="-128"/>
              </a:rPr>
              <a:t>管理は </a:t>
            </a:r>
            <a:r>
              <a:rPr kumimoji="1" lang="en-US" altLang="ja-JP" sz="1700">
                <a:solidFill>
                  <a:srgbClr val="202A38"/>
                </a:solidFill>
                <a:latin typeface="Meiryo UI" panose="020B0604030504040204" pitchFamily="50" charset="-128"/>
              </a:rPr>
              <a:t>PlayerManager </a:t>
            </a:r>
            <a:r>
              <a:rPr kumimoji="1" lang="ja-JP" altLang="en-US" sz="1700">
                <a:solidFill>
                  <a:srgbClr val="202A38"/>
                </a:solidFill>
                <a:latin typeface="Meiryo UI" panose="020B0604030504040204" pitchFamily="50" charset="-128"/>
              </a:rPr>
              <a:t>に集約し、プレイヤーの移動や表示と分離することで、拡張しやすい構造にした。</a:t>
            </a:r>
          </a:p>
        </p:txBody>
      </p:sp>
      <p:sp>
        <p:nvSpPr>
          <p:cNvPr id="10" name="四角形: 角を丸くする 9">
            <a:extLst>
              <a:ext uri="{FF2B5EF4-FFF2-40B4-BE49-F238E27FC236}">
                <a16:creationId xmlns:a16="http://schemas.microsoft.com/office/drawing/2014/main" id="{6E7A2981-018D-AB57-33E3-9C8357C45215}"/>
              </a:ext>
            </a:extLst>
          </p:cNvPr>
          <p:cNvSpPr/>
          <p:nvPr/>
        </p:nvSpPr>
        <p:spPr>
          <a:xfrm>
            <a:off x="10604500" y="1714500"/>
            <a:ext cx="2413000" cy="990600"/>
          </a:xfrm>
          <a:prstGeom prst="roundRect">
            <a:avLst/>
          </a:prstGeom>
          <a:solidFill>
            <a:srgbClr val="DEECF5"/>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800" b="1">
                <a:solidFill>
                  <a:srgbClr val="202A38"/>
                </a:solidFill>
                <a:latin typeface="Meiryo UI" panose="020B0604030504040204" pitchFamily="50" charset="-128"/>
              </a:rPr>
              <a:t>PlayerManager
</a:t>
            </a:r>
            <a:r>
              <a:rPr kumimoji="1" lang="ja-JP" altLang="en-US" sz="1800" b="1">
                <a:solidFill>
                  <a:srgbClr val="202A38"/>
                </a:solidFill>
                <a:latin typeface="Meiryo UI" panose="020B0604030504040204" pitchFamily="50" charset="-128"/>
              </a:rPr>
              <a:t>武器状態を集約</a:t>
            </a:r>
          </a:p>
        </p:txBody>
      </p:sp>
      <p:sp>
        <p:nvSpPr>
          <p:cNvPr id="11" name="四角形: 角を丸くする 10">
            <a:extLst>
              <a:ext uri="{FF2B5EF4-FFF2-40B4-BE49-F238E27FC236}">
                <a16:creationId xmlns:a16="http://schemas.microsoft.com/office/drawing/2014/main" id="{E415D7C8-B37B-E8B3-A2F5-B40F332A0F6E}"/>
              </a:ext>
            </a:extLst>
          </p:cNvPr>
          <p:cNvSpPr/>
          <p:nvPr/>
        </p:nvSpPr>
        <p:spPr>
          <a:xfrm>
            <a:off x="8636000" y="3556000"/>
            <a:ext cx="1524000" cy="965200"/>
          </a:xfrm>
          <a:prstGeom prst="roundRect">
            <a:avLst/>
          </a:prstGeom>
          <a:solidFill>
            <a:srgbClr val="EAF0DE"/>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ja-JP" altLang="en-US" sz="1700" b="1">
                <a:solidFill>
                  <a:srgbClr val="202A38"/>
                </a:solidFill>
                <a:latin typeface="Meiryo UI" panose="020B0604030504040204" pitchFamily="50" charset="-128"/>
              </a:rPr>
              <a:t>通常弾</a:t>
            </a:r>
          </a:p>
        </p:txBody>
      </p:sp>
      <p:cxnSp>
        <p:nvCxnSpPr>
          <p:cNvPr id="12" name="直線コネクタ 11">
            <a:extLst>
              <a:ext uri="{FF2B5EF4-FFF2-40B4-BE49-F238E27FC236}">
                <a16:creationId xmlns:a16="http://schemas.microsoft.com/office/drawing/2014/main" id="{AB3C7895-FB35-A6F5-E9B2-8767C1BF0635}"/>
              </a:ext>
            </a:extLst>
          </p:cNvPr>
          <p:cNvCxnSpPr/>
          <p:nvPr/>
        </p:nvCxnSpPr>
        <p:spPr>
          <a:xfrm flipH="1">
            <a:off x="9398000" y="2705100"/>
            <a:ext cx="2413000" cy="850900"/>
          </a:xfrm>
          <a:prstGeom prst="line">
            <a:avLst/>
          </a:prstGeom>
          <a:ln>
            <a:solidFill>
              <a:srgbClr val="0D718C"/>
            </a:solidFill>
          </a:ln>
        </p:spPr>
        <p:style>
          <a:lnRef idx="2">
            <a:schemeClr val="accent1"/>
          </a:lnRef>
          <a:fillRef idx="0">
            <a:schemeClr val="accent1"/>
          </a:fillRef>
          <a:effectRef idx="1">
            <a:schemeClr val="accent1"/>
          </a:effectRef>
          <a:fontRef idx="minor">
            <a:schemeClr val="tx1"/>
          </a:fontRef>
        </p:style>
      </p:cxnSp>
      <p:sp>
        <p:nvSpPr>
          <p:cNvPr id="13" name="四角形: 角を丸くする 12">
            <a:extLst>
              <a:ext uri="{FF2B5EF4-FFF2-40B4-BE49-F238E27FC236}">
                <a16:creationId xmlns:a16="http://schemas.microsoft.com/office/drawing/2014/main" id="{7B794B24-9A8A-86EE-1C65-1B863BB69CB6}"/>
              </a:ext>
            </a:extLst>
          </p:cNvPr>
          <p:cNvSpPr/>
          <p:nvPr/>
        </p:nvSpPr>
        <p:spPr>
          <a:xfrm>
            <a:off x="10477500" y="3556000"/>
            <a:ext cx="1524000" cy="965200"/>
          </a:xfrm>
          <a:prstGeom prst="roundRect">
            <a:avLst/>
          </a:prstGeom>
          <a:solidFill>
            <a:srgbClr val="F8E8D5"/>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ja-JP" altLang="en-US" sz="1700" b="1">
                <a:solidFill>
                  <a:srgbClr val="202A38"/>
                </a:solidFill>
                <a:latin typeface="Meiryo UI" panose="020B0604030504040204" pitchFamily="50" charset="-128"/>
              </a:rPr>
              <a:t>周囲弾</a:t>
            </a:r>
          </a:p>
        </p:txBody>
      </p:sp>
      <p:cxnSp>
        <p:nvCxnSpPr>
          <p:cNvPr id="14" name="直線コネクタ 13">
            <a:extLst>
              <a:ext uri="{FF2B5EF4-FFF2-40B4-BE49-F238E27FC236}">
                <a16:creationId xmlns:a16="http://schemas.microsoft.com/office/drawing/2014/main" id="{FD6AC250-7AE5-D6EC-035F-AC0B9BD7BFC6}"/>
              </a:ext>
            </a:extLst>
          </p:cNvPr>
          <p:cNvCxnSpPr/>
          <p:nvPr/>
        </p:nvCxnSpPr>
        <p:spPr>
          <a:xfrm flipH="1">
            <a:off x="11239500" y="2705100"/>
            <a:ext cx="571500" cy="850900"/>
          </a:xfrm>
          <a:prstGeom prst="line">
            <a:avLst/>
          </a:prstGeom>
          <a:ln>
            <a:solidFill>
              <a:srgbClr val="0D718C"/>
            </a:solidFill>
          </a:ln>
        </p:spPr>
        <p:style>
          <a:lnRef idx="2">
            <a:schemeClr val="accent1"/>
          </a:lnRef>
          <a:fillRef idx="0">
            <a:schemeClr val="accent1"/>
          </a:fillRef>
          <a:effectRef idx="1">
            <a:schemeClr val="accent1"/>
          </a:effectRef>
          <a:fontRef idx="minor">
            <a:schemeClr val="tx1"/>
          </a:fontRef>
        </p:style>
      </p:cxnSp>
      <p:sp>
        <p:nvSpPr>
          <p:cNvPr id="15" name="四角形: 角を丸くする 14">
            <a:extLst>
              <a:ext uri="{FF2B5EF4-FFF2-40B4-BE49-F238E27FC236}">
                <a16:creationId xmlns:a16="http://schemas.microsoft.com/office/drawing/2014/main" id="{5EFEF663-7178-0C74-976E-EF961D4D44A8}"/>
              </a:ext>
            </a:extLst>
          </p:cNvPr>
          <p:cNvSpPr/>
          <p:nvPr/>
        </p:nvSpPr>
        <p:spPr>
          <a:xfrm>
            <a:off x="12319000" y="3556000"/>
            <a:ext cx="1524000" cy="965200"/>
          </a:xfrm>
          <a:prstGeom prst="roundRect">
            <a:avLst/>
          </a:prstGeom>
          <a:solidFill>
            <a:srgbClr val="EBE1F2"/>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ja-JP" altLang="en-US" sz="1700" b="1">
                <a:solidFill>
                  <a:srgbClr val="202A38"/>
                </a:solidFill>
                <a:latin typeface="Meiryo UI" panose="020B0604030504040204" pitchFamily="50" charset="-128"/>
              </a:rPr>
              <a:t>ドローン</a:t>
            </a:r>
          </a:p>
        </p:txBody>
      </p:sp>
      <p:cxnSp>
        <p:nvCxnSpPr>
          <p:cNvPr id="16" name="直線コネクタ 15">
            <a:extLst>
              <a:ext uri="{FF2B5EF4-FFF2-40B4-BE49-F238E27FC236}">
                <a16:creationId xmlns:a16="http://schemas.microsoft.com/office/drawing/2014/main" id="{26AE8D4E-5661-EC0D-C812-386FC9293DCD}"/>
              </a:ext>
            </a:extLst>
          </p:cNvPr>
          <p:cNvCxnSpPr/>
          <p:nvPr/>
        </p:nvCxnSpPr>
        <p:spPr>
          <a:xfrm>
            <a:off x="11811000" y="2705100"/>
            <a:ext cx="1270000" cy="850900"/>
          </a:xfrm>
          <a:prstGeom prst="line">
            <a:avLst/>
          </a:prstGeom>
          <a:ln>
            <a:solidFill>
              <a:srgbClr val="0D718C"/>
            </a:solidFill>
          </a:ln>
        </p:spPr>
        <p:style>
          <a:lnRef idx="2">
            <a:schemeClr val="accent1"/>
          </a:lnRef>
          <a:fillRef idx="0">
            <a:schemeClr val="accent1"/>
          </a:fillRef>
          <a:effectRef idx="1">
            <a:schemeClr val="accent1"/>
          </a:effectRef>
          <a:fontRef idx="minor">
            <a:schemeClr val="tx1"/>
          </a:fontRef>
        </p:style>
      </p:cxnSp>
      <p:sp>
        <p:nvSpPr>
          <p:cNvPr id="17" name="四角形: 角を丸くする 16">
            <a:extLst>
              <a:ext uri="{FF2B5EF4-FFF2-40B4-BE49-F238E27FC236}">
                <a16:creationId xmlns:a16="http://schemas.microsoft.com/office/drawing/2014/main" id="{51FB88AE-873D-565C-9D54-9BE7819473E6}"/>
              </a:ext>
            </a:extLst>
          </p:cNvPr>
          <p:cNvSpPr/>
          <p:nvPr/>
        </p:nvSpPr>
        <p:spPr>
          <a:xfrm>
            <a:off x="14160500" y="3556000"/>
            <a:ext cx="1524000" cy="965200"/>
          </a:xfrm>
          <a:prstGeom prst="roundRect">
            <a:avLst/>
          </a:prstGeom>
          <a:solidFill>
            <a:srgbClr val="EAF0DE"/>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ja-JP" altLang="en-US" sz="1700" b="1">
                <a:solidFill>
                  <a:srgbClr val="202A38"/>
                </a:solidFill>
                <a:latin typeface="Meiryo UI" panose="020B0604030504040204" pitchFamily="50" charset="-128"/>
              </a:rPr>
              <a:t>ライトニング</a:t>
            </a:r>
          </a:p>
        </p:txBody>
      </p:sp>
      <p:cxnSp>
        <p:nvCxnSpPr>
          <p:cNvPr id="18" name="直線コネクタ 17">
            <a:extLst>
              <a:ext uri="{FF2B5EF4-FFF2-40B4-BE49-F238E27FC236}">
                <a16:creationId xmlns:a16="http://schemas.microsoft.com/office/drawing/2014/main" id="{FBF543BD-9867-EB20-A3F6-63F0027D23DF}"/>
              </a:ext>
            </a:extLst>
          </p:cNvPr>
          <p:cNvCxnSpPr/>
          <p:nvPr/>
        </p:nvCxnSpPr>
        <p:spPr>
          <a:xfrm>
            <a:off x="11811000" y="2705100"/>
            <a:ext cx="3111500" cy="850900"/>
          </a:xfrm>
          <a:prstGeom prst="line">
            <a:avLst/>
          </a:prstGeom>
          <a:ln>
            <a:solidFill>
              <a:srgbClr val="0D718C"/>
            </a:solidFill>
          </a:ln>
        </p:spPr>
        <p:style>
          <a:lnRef idx="2">
            <a:schemeClr val="accent1"/>
          </a:lnRef>
          <a:fillRef idx="0">
            <a:schemeClr val="accent1"/>
          </a:fillRef>
          <a:effectRef idx="1">
            <a:schemeClr val="accent1"/>
          </a:effectRef>
          <a:fontRef idx="minor">
            <a:schemeClr val="tx1"/>
          </a:fontRef>
        </p:style>
      </p:cxnSp>
      <p:sp>
        <p:nvSpPr>
          <p:cNvPr id="19" name="四角形: 角を丸くする 18">
            <a:extLst>
              <a:ext uri="{FF2B5EF4-FFF2-40B4-BE49-F238E27FC236}">
                <a16:creationId xmlns:a16="http://schemas.microsoft.com/office/drawing/2014/main" id="{E5D7E71F-1BAB-5057-691A-71E971ABEF58}"/>
              </a:ext>
            </a:extLst>
          </p:cNvPr>
          <p:cNvSpPr/>
          <p:nvPr/>
        </p:nvSpPr>
        <p:spPr>
          <a:xfrm>
            <a:off x="10985500" y="5651500"/>
            <a:ext cx="2032000" cy="914400"/>
          </a:xfrm>
          <a:prstGeom prst="roundRect">
            <a:avLst/>
          </a:prstGeom>
          <a:solidFill>
            <a:srgbClr val="E8EDF3"/>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700" b="1">
                <a:solidFill>
                  <a:srgbClr val="202A38"/>
                </a:solidFill>
                <a:latin typeface="Meiryo UI" panose="020B0604030504040204" pitchFamily="50" charset="-128"/>
              </a:rPr>
              <a:t>EnemyManager</a:t>
            </a:r>
            <a:endParaRPr kumimoji="1" lang="ja-JP" altLang="en-US" sz="1700" b="1">
              <a:solidFill>
                <a:srgbClr val="202A38"/>
              </a:solidFill>
              <a:latin typeface="Meiryo UI" panose="020B0604030504040204" pitchFamily="50" charset="-128"/>
            </a:endParaRPr>
          </a:p>
        </p:txBody>
      </p:sp>
      <p:cxnSp>
        <p:nvCxnSpPr>
          <p:cNvPr id="20" name="直線コネクタ 19">
            <a:extLst>
              <a:ext uri="{FF2B5EF4-FFF2-40B4-BE49-F238E27FC236}">
                <a16:creationId xmlns:a16="http://schemas.microsoft.com/office/drawing/2014/main" id="{D943F514-F293-CE7B-343F-DF48D86F93C4}"/>
              </a:ext>
            </a:extLst>
          </p:cNvPr>
          <p:cNvCxnSpPr/>
          <p:nvPr/>
        </p:nvCxnSpPr>
        <p:spPr>
          <a:xfrm>
            <a:off x="9398000" y="4521200"/>
            <a:ext cx="2095500" cy="1130300"/>
          </a:xfrm>
          <a:prstGeom prst="line">
            <a:avLst/>
          </a:prstGeom>
          <a:ln>
            <a:solidFill>
              <a:srgbClr val="0D718C"/>
            </a:solidFill>
          </a:ln>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A2CF4C60-D8E8-C18A-12E2-77119547B482}"/>
              </a:ext>
            </a:extLst>
          </p:cNvPr>
          <p:cNvCxnSpPr/>
          <p:nvPr/>
        </p:nvCxnSpPr>
        <p:spPr>
          <a:xfrm>
            <a:off x="11239500" y="4521200"/>
            <a:ext cx="508000" cy="1130300"/>
          </a:xfrm>
          <a:prstGeom prst="line">
            <a:avLst/>
          </a:prstGeom>
          <a:ln>
            <a:solidFill>
              <a:srgbClr val="0D718C"/>
            </a:solidFill>
          </a:ln>
        </p:spPr>
        <p:style>
          <a:lnRef idx="2">
            <a:schemeClr val="accent1"/>
          </a:lnRef>
          <a:fillRef idx="0">
            <a:schemeClr val="accent1"/>
          </a:fillRef>
          <a:effectRef idx="1">
            <a:schemeClr val="accent1"/>
          </a:effectRef>
          <a:fontRef idx="minor">
            <a:schemeClr val="tx1"/>
          </a:fontRef>
        </p:style>
      </p:cxnSp>
      <p:cxnSp>
        <p:nvCxnSpPr>
          <p:cNvPr id="22" name="直線コネクタ 21">
            <a:extLst>
              <a:ext uri="{FF2B5EF4-FFF2-40B4-BE49-F238E27FC236}">
                <a16:creationId xmlns:a16="http://schemas.microsoft.com/office/drawing/2014/main" id="{38CBFA0C-8954-4F51-450A-68C6F8ADEC88}"/>
              </a:ext>
            </a:extLst>
          </p:cNvPr>
          <p:cNvCxnSpPr/>
          <p:nvPr/>
        </p:nvCxnSpPr>
        <p:spPr>
          <a:xfrm flipH="1">
            <a:off x="12255500" y="4521200"/>
            <a:ext cx="825500" cy="1130300"/>
          </a:xfrm>
          <a:prstGeom prst="line">
            <a:avLst/>
          </a:prstGeom>
          <a:ln>
            <a:solidFill>
              <a:srgbClr val="0D718C"/>
            </a:solidFill>
          </a:ln>
        </p:spPr>
        <p:style>
          <a:lnRef idx="2">
            <a:schemeClr val="accent1"/>
          </a:lnRef>
          <a:fillRef idx="0">
            <a:schemeClr val="accent1"/>
          </a:fillRef>
          <a:effectRef idx="1">
            <a:schemeClr val="accent1"/>
          </a:effectRef>
          <a:fontRef idx="minor">
            <a:schemeClr val="tx1"/>
          </a:fontRef>
        </p:style>
      </p:cxnSp>
      <p:cxnSp>
        <p:nvCxnSpPr>
          <p:cNvPr id="23" name="直線コネクタ 22">
            <a:extLst>
              <a:ext uri="{FF2B5EF4-FFF2-40B4-BE49-F238E27FC236}">
                <a16:creationId xmlns:a16="http://schemas.microsoft.com/office/drawing/2014/main" id="{D009D485-9486-2389-21A3-0AFF254C64FB}"/>
              </a:ext>
            </a:extLst>
          </p:cNvPr>
          <p:cNvCxnSpPr/>
          <p:nvPr/>
        </p:nvCxnSpPr>
        <p:spPr>
          <a:xfrm flipH="1">
            <a:off x="12509500" y="4521200"/>
            <a:ext cx="2413000" cy="1130300"/>
          </a:xfrm>
          <a:prstGeom prst="line">
            <a:avLst/>
          </a:prstGeom>
          <a:ln>
            <a:solidFill>
              <a:srgbClr val="0D7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29709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F4CEEC61-BEBF-7BB1-9942-431977FE31CC}"/>
              </a:ext>
            </a:extLst>
          </p:cNvPr>
          <p:cNvSpPr/>
          <p:nvPr/>
        </p:nvSpPr>
        <p:spPr>
          <a:xfrm>
            <a:off x="609600" y="609600"/>
            <a:ext cx="15036800" cy="7924800"/>
          </a:xfrm>
          <a:prstGeom prst="rect">
            <a:avLst/>
          </a:prstGeom>
          <a:solidFill>
            <a:srgbClr val="E8EDF3"/>
          </a:solidFill>
          <a:ln w="15875">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F87F7947-0924-A97C-F5DA-AA169508B3E0}"/>
              </a:ext>
            </a:extLst>
          </p:cNvPr>
          <p:cNvSpPr/>
          <p:nvPr/>
        </p:nvSpPr>
        <p:spPr>
          <a:xfrm>
            <a:off x="914400" y="1371600"/>
            <a:ext cx="6604000" cy="6604000"/>
          </a:xfrm>
          <a:prstGeom prst="rect">
            <a:avLst/>
          </a:prstGeom>
          <a:solidFill>
            <a:srgbClr val="FFFFFF"/>
          </a:solidFill>
          <a:ln w="15875">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719775BA-2BAA-CA99-297A-47A34FC1EBCA}"/>
              </a:ext>
            </a:extLst>
          </p:cNvPr>
          <p:cNvSpPr/>
          <p:nvPr/>
        </p:nvSpPr>
        <p:spPr>
          <a:xfrm>
            <a:off x="7975600" y="1371600"/>
            <a:ext cx="7366000" cy="6604000"/>
          </a:xfrm>
          <a:prstGeom prst="rect">
            <a:avLst/>
          </a:prstGeom>
          <a:solidFill>
            <a:srgbClr val="FFFFFF"/>
          </a:solidFill>
          <a:ln w="15875">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B5EE2CC4-8231-3E8B-603D-BB0DF7C4BD1E}"/>
              </a:ext>
            </a:extLst>
          </p:cNvPr>
          <p:cNvSpPr/>
          <p:nvPr/>
        </p:nvSpPr>
        <p:spPr>
          <a:xfrm>
            <a:off x="914400" y="787400"/>
            <a:ext cx="1473200" cy="381000"/>
          </a:xfrm>
          <a:prstGeom prst="roundRect">
            <a:avLst/>
          </a:prstGeom>
          <a:solidFill>
            <a:srgbClr val="0D718C"/>
          </a:solidFill>
          <a:ln w="12700">
            <a:solidFill>
              <a:srgbClr val="0D71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400" b="1">
                <a:solidFill>
                  <a:srgbClr val="FFFFFF"/>
                </a:solidFill>
                <a:latin typeface="Meiryo UI" panose="020B0604030504040204" pitchFamily="50" charset="-128"/>
              </a:rPr>
              <a:t>MAIN</a:t>
            </a:r>
            <a:endParaRPr kumimoji="1" lang="ja-JP" altLang="en-US" sz="1400" b="1">
              <a:solidFill>
                <a:srgbClr val="FFFFFF"/>
              </a:solidFill>
              <a:latin typeface="Meiryo UI" panose="020B0604030504040204" pitchFamily="50" charset="-128"/>
            </a:endParaRPr>
          </a:p>
        </p:txBody>
      </p:sp>
      <p:sp>
        <p:nvSpPr>
          <p:cNvPr id="6" name="テキスト ボックス 5">
            <a:extLst>
              <a:ext uri="{FF2B5EF4-FFF2-40B4-BE49-F238E27FC236}">
                <a16:creationId xmlns:a16="http://schemas.microsoft.com/office/drawing/2014/main" id="{2447E4AE-6662-F3D3-F1CD-BEF5C95824E0}"/>
              </a:ext>
            </a:extLst>
          </p:cNvPr>
          <p:cNvSpPr txBox="1"/>
          <p:nvPr/>
        </p:nvSpPr>
        <p:spPr>
          <a:xfrm>
            <a:off x="2603500" y="685377"/>
            <a:ext cx="7112000" cy="461665"/>
          </a:xfrm>
          <a:prstGeom prst="rect">
            <a:avLst/>
          </a:prstGeom>
          <a:noFill/>
        </p:spPr>
        <p:txBody>
          <a:bodyPr vert="horz" wrap="square" rtlCol="0" anchor="ctr">
            <a:spAutoFit/>
          </a:bodyPr>
          <a:lstStyle/>
          <a:p>
            <a:r>
              <a:rPr kumimoji="1" lang="ja-JP" altLang="en-US" sz="2400" b="1">
                <a:solidFill>
                  <a:srgbClr val="202A38"/>
                </a:solidFill>
                <a:latin typeface="Yu Gothic UI Semibold" panose="020B0700000000000000" pitchFamily="50" charset="-128"/>
              </a:rPr>
              <a:t>主軸 </a:t>
            </a:r>
            <a:r>
              <a:rPr kumimoji="1" lang="en-US" altLang="ja-JP" sz="2400" b="1">
                <a:solidFill>
                  <a:srgbClr val="202A38"/>
                </a:solidFill>
                <a:latin typeface="Yu Gothic UI Semibold" panose="020B0700000000000000" pitchFamily="50" charset="-128"/>
              </a:rPr>
              <a:t>2: </a:t>
            </a:r>
            <a:r>
              <a:rPr kumimoji="1" lang="ja-JP" altLang="en-US" sz="2400" b="1">
                <a:solidFill>
                  <a:srgbClr val="202A38"/>
                </a:solidFill>
                <a:latin typeface="Yu Gothic UI Semibold" panose="020B0700000000000000" pitchFamily="50" charset="-128"/>
              </a:rPr>
              <a:t>レベルアップ候補の動的制御</a:t>
            </a:r>
          </a:p>
        </p:txBody>
      </p:sp>
      <p:sp>
        <p:nvSpPr>
          <p:cNvPr id="7" name="テキスト ボックス 6">
            <a:extLst>
              <a:ext uri="{FF2B5EF4-FFF2-40B4-BE49-F238E27FC236}">
                <a16:creationId xmlns:a16="http://schemas.microsoft.com/office/drawing/2014/main" id="{323DD63D-2C39-D163-34AB-8800F77FF26B}"/>
              </a:ext>
            </a:extLst>
          </p:cNvPr>
          <p:cNvSpPr txBox="1"/>
          <p:nvPr/>
        </p:nvSpPr>
        <p:spPr>
          <a:xfrm>
            <a:off x="1219200" y="1757875"/>
            <a:ext cx="5842000" cy="615553"/>
          </a:xfrm>
          <a:prstGeom prst="rect">
            <a:avLst/>
          </a:prstGeom>
          <a:noFill/>
        </p:spPr>
        <p:txBody>
          <a:bodyPr vert="horz" wrap="square" rtlCol="0" anchor="ctr">
            <a:spAutoFit/>
          </a:bodyPr>
          <a:lstStyle/>
          <a:p>
            <a:r>
              <a:rPr kumimoji="1" lang="ja-JP" altLang="en-US" sz="1700">
                <a:solidFill>
                  <a:srgbClr val="202A38"/>
                </a:solidFill>
                <a:latin typeface="Meiryo UI" panose="020B0604030504040204" pitchFamily="50" charset="-128"/>
              </a:rPr>
              <a:t>武器をただ順番に強化するだけでは、毎回同じ成長ルートになりやすい。</a:t>
            </a:r>
          </a:p>
        </p:txBody>
      </p:sp>
      <p:sp>
        <p:nvSpPr>
          <p:cNvPr id="8" name="テキスト ボックス 7">
            <a:extLst>
              <a:ext uri="{FF2B5EF4-FFF2-40B4-BE49-F238E27FC236}">
                <a16:creationId xmlns:a16="http://schemas.microsoft.com/office/drawing/2014/main" id="{7BDDF492-2C99-5F7B-48E1-022CF4948747}"/>
              </a:ext>
            </a:extLst>
          </p:cNvPr>
          <p:cNvSpPr txBox="1"/>
          <p:nvPr/>
        </p:nvSpPr>
        <p:spPr>
          <a:xfrm>
            <a:off x="1219200" y="2494475"/>
            <a:ext cx="5842000" cy="615553"/>
          </a:xfrm>
          <a:prstGeom prst="rect">
            <a:avLst/>
          </a:prstGeom>
          <a:noFill/>
        </p:spPr>
        <p:txBody>
          <a:bodyPr vert="horz" wrap="square" rtlCol="0" anchor="ctr">
            <a:spAutoFit/>
          </a:bodyPr>
          <a:lstStyle/>
          <a:p>
            <a:r>
              <a:rPr kumimoji="1" lang="ja-JP" altLang="en-US" sz="1700">
                <a:solidFill>
                  <a:srgbClr val="202A38"/>
                </a:solidFill>
                <a:latin typeface="Meiryo UI" panose="020B0604030504040204" pitchFamily="50" charset="-128"/>
              </a:rPr>
              <a:t>そこでレベルアップ候補は固定文ではなく、未所持武器は解禁候補、所持済み武器は強化候補として扱うようにした。</a:t>
            </a:r>
          </a:p>
        </p:txBody>
      </p:sp>
      <p:sp>
        <p:nvSpPr>
          <p:cNvPr id="9" name="テキスト ボックス 8">
            <a:extLst>
              <a:ext uri="{FF2B5EF4-FFF2-40B4-BE49-F238E27FC236}">
                <a16:creationId xmlns:a16="http://schemas.microsoft.com/office/drawing/2014/main" id="{DDA60BFE-7D49-B26C-3C1C-9B5E04722178}"/>
              </a:ext>
            </a:extLst>
          </p:cNvPr>
          <p:cNvSpPr txBox="1"/>
          <p:nvPr/>
        </p:nvSpPr>
        <p:spPr>
          <a:xfrm>
            <a:off x="1219200" y="3231075"/>
            <a:ext cx="5842000" cy="615553"/>
          </a:xfrm>
          <a:prstGeom prst="rect">
            <a:avLst/>
          </a:prstGeom>
          <a:noFill/>
        </p:spPr>
        <p:txBody>
          <a:bodyPr vert="horz" wrap="square" rtlCol="0" anchor="ctr">
            <a:spAutoFit/>
          </a:bodyPr>
          <a:lstStyle/>
          <a:p>
            <a:r>
              <a:rPr kumimoji="1" lang="ja-JP" altLang="en-US" sz="1700">
                <a:solidFill>
                  <a:srgbClr val="202A38"/>
                </a:solidFill>
                <a:latin typeface="Meiryo UI" panose="020B0604030504040204" pitchFamily="50" charset="-128"/>
              </a:rPr>
              <a:t>さらに </a:t>
            </a:r>
            <a:r>
              <a:rPr kumimoji="1" lang="en-US" altLang="ja-JP" sz="1700">
                <a:solidFill>
                  <a:srgbClr val="202A38"/>
                </a:solidFill>
                <a:latin typeface="Meiryo UI" panose="020B0604030504040204" pitchFamily="50" charset="-128"/>
              </a:rPr>
              <a:t>HP </a:t>
            </a:r>
            <a:r>
              <a:rPr kumimoji="1" lang="ja-JP" altLang="en-US" sz="1700">
                <a:solidFill>
                  <a:srgbClr val="202A38"/>
                </a:solidFill>
                <a:latin typeface="Meiryo UI" panose="020B0604030504040204" pitchFamily="50" charset="-128"/>
              </a:rPr>
              <a:t>や強化状況に応じて重みを変え、プレイヤーの状態に合った候補が出やすい仕組みにしている。</a:t>
            </a:r>
          </a:p>
        </p:txBody>
      </p:sp>
      <p:sp>
        <p:nvSpPr>
          <p:cNvPr id="10" name="四角形: 角を丸くする 9">
            <a:extLst>
              <a:ext uri="{FF2B5EF4-FFF2-40B4-BE49-F238E27FC236}">
                <a16:creationId xmlns:a16="http://schemas.microsoft.com/office/drawing/2014/main" id="{15E05CD7-79F9-2358-6A09-4C6CD7F6BC45}"/>
              </a:ext>
            </a:extLst>
          </p:cNvPr>
          <p:cNvSpPr/>
          <p:nvPr/>
        </p:nvSpPr>
        <p:spPr>
          <a:xfrm>
            <a:off x="8763000" y="1905000"/>
            <a:ext cx="5969000" cy="1168400"/>
          </a:xfrm>
          <a:prstGeom prst="roundRect">
            <a:avLst/>
          </a:prstGeom>
          <a:solidFill>
            <a:srgbClr val="DEECF5"/>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ja-JP" altLang="en-US" sz="1800" b="1">
                <a:solidFill>
                  <a:srgbClr val="202A38"/>
                </a:solidFill>
                <a:latin typeface="Meiryo UI" panose="020B0604030504040204" pitchFamily="50" charset="-128"/>
              </a:rPr>
              <a:t>候補プール
通常弾 </a:t>
            </a:r>
            <a:r>
              <a:rPr kumimoji="1" lang="en-US" altLang="ja-JP" sz="1800" b="1">
                <a:solidFill>
                  <a:srgbClr val="202A38"/>
                </a:solidFill>
                <a:latin typeface="Meiryo UI" panose="020B0604030504040204" pitchFamily="50" charset="-128"/>
              </a:rPr>
              <a:t>/ </a:t>
            </a:r>
            <a:r>
              <a:rPr kumimoji="1" lang="ja-JP" altLang="en-US" sz="1800" b="1">
                <a:solidFill>
                  <a:srgbClr val="202A38"/>
                </a:solidFill>
                <a:latin typeface="Meiryo UI" panose="020B0604030504040204" pitchFamily="50" charset="-128"/>
              </a:rPr>
              <a:t>周囲弾 </a:t>
            </a:r>
            <a:r>
              <a:rPr kumimoji="1" lang="en-US" altLang="ja-JP" sz="1800" b="1">
                <a:solidFill>
                  <a:srgbClr val="202A38"/>
                </a:solidFill>
                <a:latin typeface="Meiryo UI" panose="020B0604030504040204" pitchFamily="50" charset="-128"/>
              </a:rPr>
              <a:t>/ </a:t>
            </a:r>
            <a:r>
              <a:rPr kumimoji="1" lang="ja-JP" altLang="en-US" sz="1800" b="1">
                <a:solidFill>
                  <a:srgbClr val="202A38"/>
                </a:solidFill>
                <a:latin typeface="Meiryo UI" panose="020B0604030504040204" pitchFamily="50" charset="-128"/>
              </a:rPr>
              <a:t>ドローン </a:t>
            </a:r>
            <a:r>
              <a:rPr kumimoji="1" lang="en-US" altLang="ja-JP" sz="1800" b="1">
                <a:solidFill>
                  <a:srgbClr val="202A38"/>
                </a:solidFill>
                <a:latin typeface="Meiryo UI" panose="020B0604030504040204" pitchFamily="50" charset="-128"/>
              </a:rPr>
              <a:t>/ </a:t>
            </a:r>
            <a:r>
              <a:rPr kumimoji="1" lang="ja-JP" altLang="en-US" sz="1800" b="1">
                <a:solidFill>
                  <a:srgbClr val="202A38"/>
                </a:solidFill>
                <a:latin typeface="Meiryo UI" panose="020B0604030504040204" pitchFamily="50" charset="-128"/>
              </a:rPr>
              <a:t>ライトニング </a:t>
            </a:r>
            <a:r>
              <a:rPr kumimoji="1" lang="en-US" altLang="ja-JP" sz="1800" b="1">
                <a:solidFill>
                  <a:srgbClr val="202A38"/>
                </a:solidFill>
                <a:latin typeface="Meiryo UI" panose="020B0604030504040204" pitchFamily="50" charset="-128"/>
              </a:rPr>
              <a:t>/ </a:t>
            </a:r>
            <a:r>
              <a:rPr kumimoji="1" lang="ja-JP" altLang="en-US" sz="1800" b="1">
                <a:solidFill>
                  <a:srgbClr val="202A38"/>
                </a:solidFill>
                <a:latin typeface="Meiryo UI" panose="020B0604030504040204" pitchFamily="50" charset="-128"/>
              </a:rPr>
              <a:t>攻撃力 </a:t>
            </a:r>
            <a:r>
              <a:rPr kumimoji="1" lang="en-US" altLang="ja-JP" sz="1800" b="1">
                <a:solidFill>
                  <a:srgbClr val="202A38"/>
                </a:solidFill>
                <a:latin typeface="Meiryo UI" panose="020B0604030504040204" pitchFamily="50" charset="-128"/>
              </a:rPr>
              <a:t>/ HP / </a:t>
            </a:r>
            <a:r>
              <a:rPr kumimoji="1" lang="ja-JP" altLang="en-US" sz="1800" b="1">
                <a:solidFill>
                  <a:srgbClr val="202A38"/>
                </a:solidFill>
                <a:latin typeface="Meiryo UI" panose="020B0604030504040204" pitchFamily="50" charset="-128"/>
              </a:rPr>
              <a:t>速度</a:t>
            </a:r>
          </a:p>
        </p:txBody>
      </p:sp>
      <p:sp>
        <p:nvSpPr>
          <p:cNvPr id="11" name="四角形: 角を丸くする 10">
            <a:extLst>
              <a:ext uri="{FF2B5EF4-FFF2-40B4-BE49-F238E27FC236}">
                <a16:creationId xmlns:a16="http://schemas.microsoft.com/office/drawing/2014/main" id="{AA21AC4D-8CFB-D2BD-3230-367A4AF0EDF8}"/>
              </a:ext>
            </a:extLst>
          </p:cNvPr>
          <p:cNvSpPr/>
          <p:nvPr/>
        </p:nvSpPr>
        <p:spPr>
          <a:xfrm>
            <a:off x="9779000" y="3810000"/>
            <a:ext cx="3937000" cy="1066800"/>
          </a:xfrm>
          <a:prstGeom prst="roundRect">
            <a:avLst/>
          </a:prstGeom>
          <a:solidFill>
            <a:srgbClr val="EAF0DE"/>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ja-JP" altLang="en-US" sz="1600" b="1">
                <a:solidFill>
                  <a:srgbClr val="202A38"/>
                </a:solidFill>
                <a:latin typeface="Meiryo UI" panose="020B0604030504040204" pitchFamily="50" charset="-128"/>
              </a:rPr>
              <a:t>プレイヤー状況で重みを調整
未所持武器を解禁候補に </a:t>
            </a:r>
            <a:r>
              <a:rPr kumimoji="1" lang="en-US" altLang="ja-JP" sz="1600" b="1">
                <a:solidFill>
                  <a:srgbClr val="202A38"/>
                </a:solidFill>
                <a:latin typeface="Meiryo UI" panose="020B0604030504040204" pitchFamily="50" charset="-128"/>
              </a:rPr>
              <a:t>/ </a:t>
            </a:r>
            <a:r>
              <a:rPr kumimoji="1" lang="ja-JP" altLang="en-US" sz="1600" b="1">
                <a:solidFill>
                  <a:srgbClr val="202A38"/>
                </a:solidFill>
                <a:latin typeface="Meiryo UI" panose="020B0604030504040204" pitchFamily="50" charset="-128"/>
              </a:rPr>
              <a:t>最大</a:t>
            </a:r>
            <a:r>
              <a:rPr kumimoji="1" lang="en-US" altLang="ja-JP" sz="1600" b="1">
                <a:solidFill>
                  <a:srgbClr val="202A38"/>
                </a:solidFill>
                <a:latin typeface="Meiryo UI" panose="020B0604030504040204" pitchFamily="50" charset="-128"/>
              </a:rPr>
              <a:t>Lv</a:t>
            </a:r>
            <a:r>
              <a:rPr kumimoji="1" lang="ja-JP" altLang="en-US" sz="1600" b="1">
                <a:solidFill>
                  <a:srgbClr val="202A38"/>
                </a:solidFill>
                <a:latin typeface="Meiryo UI" panose="020B0604030504040204" pitchFamily="50" charset="-128"/>
              </a:rPr>
              <a:t>は除外 </a:t>
            </a:r>
            <a:r>
              <a:rPr kumimoji="1" lang="en-US" altLang="ja-JP" sz="1600" b="1">
                <a:solidFill>
                  <a:srgbClr val="202A38"/>
                </a:solidFill>
                <a:latin typeface="Meiryo UI" panose="020B0604030504040204" pitchFamily="50" charset="-128"/>
              </a:rPr>
              <a:t>/ HP</a:t>
            </a:r>
            <a:r>
              <a:rPr kumimoji="1" lang="ja-JP" altLang="en-US" sz="1600" b="1">
                <a:solidFill>
                  <a:srgbClr val="202A38"/>
                </a:solidFill>
                <a:latin typeface="Meiryo UI" panose="020B0604030504040204" pitchFamily="50" charset="-128"/>
              </a:rPr>
              <a:t>低下で回復を強化</a:t>
            </a:r>
          </a:p>
        </p:txBody>
      </p:sp>
      <p:sp>
        <p:nvSpPr>
          <p:cNvPr id="12" name="四角形: 角を丸くする 11">
            <a:extLst>
              <a:ext uri="{FF2B5EF4-FFF2-40B4-BE49-F238E27FC236}">
                <a16:creationId xmlns:a16="http://schemas.microsoft.com/office/drawing/2014/main" id="{0BEF6087-2D95-4A40-90EA-330632F7A705}"/>
              </a:ext>
            </a:extLst>
          </p:cNvPr>
          <p:cNvSpPr/>
          <p:nvPr/>
        </p:nvSpPr>
        <p:spPr>
          <a:xfrm>
            <a:off x="8763000" y="5778500"/>
            <a:ext cx="1651000" cy="965200"/>
          </a:xfrm>
          <a:prstGeom prst="roundRect">
            <a:avLst/>
          </a:prstGeom>
          <a:solidFill>
            <a:srgbClr val="F8E8D5"/>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700" b="1">
                <a:solidFill>
                  <a:srgbClr val="202A38"/>
                </a:solidFill>
                <a:latin typeface="Meiryo UI" panose="020B0604030504040204" pitchFamily="50" charset="-128"/>
              </a:rPr>
              <a:t>Choice A</a:t>
            </a:r>
            <a:endParaRPr kumimoji="1" lang="ja-JP" altLang="en-US" sz="1700" b="1">
              <a:solidFill>
                <a:srgbClr val="202A38"/>
              </a:solidFill>
              <a:latin typeface="Meiryo UI" panose="020B0604030504040204" pitchFamily="50" charset="-128"/>
            </a:endParaRPr>
          </a:p>
        </p:txBody>
      </p:sp>
      <p:sp>
        <p:nvSpPr>
          <p:cNvPr id="13" name="四角形: 角を丸くする 12">
            <a:extLst>
              <a:ext uri="{FF2B5EF4-FFF2-40B4-BE49-F238E27FC236}">
                <a16:creationId xmlns:a16="http://schemas.microsoft.com/office/drawing/2014/main" id="{5338C67D-8161-6784-09AC-E240F128AFF2}"/>
              </a:ext>
            </a:extLst>
          </p:cNvPr>
          <p:cNvSpPr/>
          <p:nvPr/>
        </p:nvSpPr>
        <p:spPr>
          <a:xfrm>
            <a:off x="10922000" y="5778500"/>
            <a:ext cx="1651000" cy="965200"/>
          </a:xfrm>
          <a:prstGeom prst="roundRect">
            <a:avLst/>
          </a:prstGeom>
          <a:solidFill>
            <a:srgbClr val="EBE1F2"/>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700" b="1">
                <a:solidFill>
                  <a:srgbClr val="202A38"/>
                </a:solidFill>
                <a:latin typeface="Meiryo UI" panose="020B0604030504040204" pitchFamily="50" charset="-128"/>
              </a:rPr>
              <a:t>Choice B</a:t>
            </a:r>
            <a:endParaRPr kumimoji="1" lang="ja-JP" altLang="en-US" sz="1700" b="1">
              <a:solidFill>
                <a:srgbClr val="202A38"/>
              </a:solidFill>
              <a:latin typeface="Meiryo UI" panose="020B0604030504040204" pitchFamily="50" charset="-128"/>
            </a:endParaRPr>
          </a:p>
        </p:txBody>
      </p:sp>
      <p:sp>
        <p:nvSpPr>
          <p:cNvPr id="14" name="四角形: 角を丸くする 13">
            <a:extLst>
              <a:ext uri="{FF2B5EF4-FFF2-40B4-BE49-F238E27FC236}">
                <a16:creationId xmlns:a16="http://schemas.microsoft.com/office/drawing/2014/main" id="{04387FFE-749C-718A-B0FC-0EC861A84A91}"/>
              </a:ext>
            </a:extLst>
          </p:cNvPr>
          <p:cNvSpPr/>
          <p:nvPr/>
        </p:nvSpPr>
        <p:spPr>
          <a:xfrm>
            <a:off x="13081000" y="5778500"/>
            <a:ext cx="1651000" cy="965200"/>
          </a:xfrm>
          <a:prstGeom prst="roundRect">
            <a:avLst/>
          </a:prstGeom>
          <a:solidFill>
            <a:srgbClr val="F8E8D5"/>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700" b="1">
                <a:solidFill>
                  <a:srgbClr val="202A38"/>
                </a:solidFill>
                <a:latin typeface="Meiryo UI" panose="020B0604030504040204" pitchFamily="50" charset="-128"/>
              </a:rPr>
              <a:t>Choice C</a:t>
            </a:r>
            <a:endParaRPr kumimoji="1" lang="ja-JP" altLang="en-US" sz="1700" b="1">
              <a:solidFill>
                <a:srgbClr val="202A38"/>
              </a:solidFill>
              <a:latin typeface="Meiryo UI" panose="020B0604030504040204" pitchFamily="50" charset="-128"/>
            </a:endParaRPr>
          </a:p>
        </p:txBody>
      </p:sp>
      <p:sp>
        <p:nvSpPr>
          <p:cNvPr id="15" name="矢印: 右 14">
            <a:extLst>
              <a:ext uri="{FF2B5EF4-FFF2-40B4-BE49-F238E27FC236}">
                <a16:creationId xmlns:a16="http://schemas.microsoft.com/office/drawing/2014/main" id="{54F2882F-FF91-8E99-CCBB-7B559F369FAC}"/>
              </a:ext>
            </a:extLst>
          </p:cNvPr>
          <p:cNvSpPr/>
          <p:nvPr/>
        </p:nvSpPr>
        <p:spPr>
          <a:xfrm>
            <a:off x="11493500" y="3111500"/>
            <a:ext cx="381000" cy="533400"/>
          </a:xfrm>
          <a:prstGeom prst="rightArrow">
            <a:avLst/>
          </a:prstGeom>
          <a:solidFill>
            <a:srgbClr val="0D718C"/>
          </a:solidFill>
          <a:ln>
            <a:solidFill>
              <a:srgbClr val="0D71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矢印: 右 15">
            <a:extLst>
              <a:ext uri="{FF2B5EF4-FFF2-40B4-BE49-F238E27FC236}">
                <a16:creationId xmlns:a16="http://schemas.microsoft.com/office/drawing/2014/main" id="{3E9976A3-AA4D-4F82-DA68-DB07E87F33EE}"/>
              </a:ext>
            </a:extLst>
          </p:cNvPr>
          <p:cNvSpPr/>
          <p:nvPr/>
        </p:nvSpPr>
        <p:spPr>
          <a:xfrm>
            <a:off x="11493500" y="4953000"/>
            <a:ext cx="381000" cy="533400"/>
          </a:xfrm>
          <a:prstGeom prst="rightArrow">
            <a:avLst/>
          </a:prstGeom>
          <a:solidFill>
            <a:srgbClr val="0D718C"/>
          </a:solidFill>
          <a:ln>
            <a:solidFill>
              <a:srgbClr val="0D71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51523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46050B5F-D9A4-A5F9-1ACC-EB29CED74C24}"/>
              </a:ext>
            </a:extLst>
          </p:cNvPr>
          <p:cNvSpPr/>
          <p:nvPr/>
        </p:nvSpPr>
        <p:spPr>
          <a:xfrm>
            <a:off x="609600" y="609600"/>
            <a:ext cx="15036800" cy="7924800"/>
          </a:xfrm>
          <a:prstGeom prst="rect">
            <a:avLst/>
          </a:prstGeom>
          <a:solidFill>
            <a:srgbClr val="E8EDF3"/>
          </a:solidFill>
          <a:ln w="15875">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5DA88C7A-A1A3-38DF-83B9-424AB378C8E7}"/>
              </a:ext>
            </a:extLst>
          </p:cNvPr>
          <p:cNvSpPr/>
          <p:nvPr/>
        </p:nvSpPr>
        <p:spPr>
          <a:xfrm>
            <a:off x="914400" y="1371600"/>
            <a:ext cx="6604000" cy="6604000"/>
          </a:xfrm>
          <a:prstGeom prst="rect">
            <a:avLst/>
          </a:prstGeom>
          <a:solidFill>
            <a:srgbClr val="FFFFFF"/>
          </a:solidFill>
          <a:ln w="15875">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D14D359C-4E00-3820-5731-6293D88AF9B7}"/>
              </a:ext>
            </a:extLst>
          </p:cNvPr>
          <p:cNvSpPr/>
          <p:nvPr/>
        </p:nvSpPr>
        <p:spPr>
          <a:xfrm>
            <a:off x="7975600" y="1371600"/>
            <a:ext cx="7366000" cy="6604000"/>
          </a:xfrm>
          <a:prstGeom prst="rect">
            <a:avLst/>
          </a:prstGeom>
          <a:solidFill>
            <a:srgbClr val="FFFFFF"/>
          </a:solidFill>
          <a:ln w="15875">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45D6174B-12C5-4258-171E-3A4198BC1F5B}"/>
              </a:ext>
            </a:extLst>
          </p:cNvPr>
          <p:cNvSpPr/>
          <p:nvPr/>
        </p:nvSpPr>
        <p:spPr>
          <a:xfrm>
            <a:off x="914400" y="787400"/>
            <a:ext cx="1473200" cy="381000"/>
          </a:xfrm>
          <a:prstGeom prst="roundRect">
            <a:avLst/>
          </a:prstGeom>
          <a:solidFill>
            <a:srgbClr val="0D718C"/>
          </a:solidFill>
          <a:ln w="12700">
            <a:solidFill>
              <a:srgbClr val="0D71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400" b="1">
                <a:solidFill>
                  <a:srgbClr val="FFFFFF"/>
                </a:solidFill>
                <a:latin typeface="Meiryo UI" panose="020B0604030504040204" pitchFamily="50" charset="-128"/>
              </a:rPr>
              <a:t>MAIN</a:t>
            </a:r>
            <a:endParaRPr kumimoji="1" lang="ja-JP" altLang="en-US" sz="1400" b="1">
              <a:solidFill>
                <a:srgbClr val="FFFFFF"/>
              </a:solidFill>
              <a:latin typeface="Meiryo UI" panose="020B0604030504040204" pitchFamily="50" charset="-128"/>
            </a:endParaRPr>
          </a:p>
        </p:txBody>
      </p:sp>
      <p:sp>
        <p:nvSpPr>
          <p:cNvPr id="6" name="テキスト ボックス 5">
            <a:extLst>
              <a:ext uri="{FF2B5EF4-FFF2-40B4-BE49-F238E27FC236}">
                <a16:creationId xmlns:a16="http://schemas.microsoft.com/office/drawing/2014/main" id="{0FDD7103-5EF6-7D54-97CA-6A1238D49629}"/>
              </a:ext>
            </a:extLst>
          </p:cNvPr>
          <p:cNvSpPr txBox="1"/>
          <p:nvPr/>
        </p:nvSpPr>
        <p:spPr>
          <a:xfrm>
            <a:off x="2603500" y="685377"/>
            <a:ext cx="7112000" cy="461665"/>
          </a:xfrm>
          <a:prstGeom prst="rect">
            <a:avLst/>
          </a:prstGeom>
          <a:noFill/>
        </p:spPr>
        <p:txBody>
          <a:bodyPr vert="horz" wrap="square" rtlCol="0" anchor="ctr">
            <a:spAutoFit/>
          </a:bodyPr>
          <a:lstStyle/>
          <a:p>
            <a:r>
              <a:rPr kumimoji="1" lang="ja-JP" altLang="en-US" sz="2400" b="1">
                <a:solidFill>
                  <a:srgbClr val="202A38"/>
                </a:solidFill>
                <a:latin typeface="Yu Gothic UI Semibold" panose="020B0700000000000000" pitchFamily="50" charset="-128"/>
              </a:rPr>
              <a:t>主軸 </a:t>
            </a:r>
            <a:r>
              <a:rPr kumimoji="1" lang="en-US" altLang="ja-JP" sz="2400" b="1">
                <a:solidFill>
                  <a:srgbClr val="202A38"/>
                </a:solidFill>
                <a:latin typeface="Yu Gothic UI Semibold" panose="020B0700000000000000" pitchFamily="50" charset="-128"/>
              </a:rPr>
              <a:t>3: </a:t>
            </a:r>
            <a:r>
              <a:rPr kumimoji="1" lang="ja-JP" altLang="en-US" sz="2400" b="1">
                <a:solidFill>
                  <a:srgbClr val="202A38"/>
                </a:solidFill>
                <a:latin typeface="Yu Gothic UI Semibold" panose="020B0700000000000000" pitchFamily="50" charset="-128"/>
              </a:rPr>
              <a:t>武器成長で挙動そのものを変える</a:t>
            </a:r>
          </a:p>
        </p:txBody>
      </p:sp>
      <p:sp>
        <p:nvSpPr>
          <p:cNvPr id="7" name="テキスト ボックス 6">
            <a:extLst>
              <a:ext uri="{FF2B5EF4-FFF2-40B4-BE49-F238E27FC236}">
                <a16:creationId xmlns:a16="http://schemas.microsoft.com/office/drawing/2014/main" id="{C624311D-CA72-8F18-5E59-0DDC85F84080}"/>
              </a:ext>
            </a:extLst>
          </p:cNvPr>
          <p:cNvSpPr txBox="1"/>
          <p:nvPr/>
        </p:nvSpPr>
        <p:spPr>
          <a:xfrm>
            <a:off x="1219200" y="1649833"/>
            <a:ext cx="5842000" cy="615553"/>
          </a:xfrm>
          <a:prstGeom prst="rect">
            <a:avLst/>
          </a:prstGeom>
          <a:noFill/>
        </p:spPr>
        <p:txBody>
          <a:bodyPr vert="horz" wrap="square" rtlCol="0" anchor="ctr">
            <a:spAutoFit/>
          </a:bodyPr>
          <a:lstStyle/>
          <a:p>
            <a:r>
              <a:rPr kumimoji="1" lang="ja-JP" altLang="en-US" sz="1700">
                <a:solidFill>
                  <a:srgbClr val="202A38"/>
                </a:solidFill>
                <a:latin typeface="Meiryo UI" panose="020B0604030504040204" pitchFamily="50" charset="-128"/>
              </a:rPr>
              <a:t>成長の実感を出すために、強化は攻撃力の数値上昇だけにしなかった。</a:t>
            </a:r>
          </a:p>
        </p:txBody>
      </p:sp>
      <p:sp>
        <p:nvSpPr>
          <p:cNvPr id="8" name="テキスト ボックス 7">
            <a:extLst>
              <a:ext uri="{FF2B5EF4-FFF2-40B4-BE49-F238E27FC236}">
                <a16:creationId xmlns:a16="http://schemas.microsoft.com/office/drawing/2014/main" id="{0642B629-0961-9B21-A8DA-EF2A13D7DC20}"/>
              </a:ext>
            </a:extLst>
          </p:cNvPr>
          <p:cNvSpPr txBox="1"/>
          <p:nvPr/>
        </p:nvSpPr>
        <p:spPr>
          <a:xfrm>
            <a:off x="1219200" y="2494475"/>
            <a:ext cx="5842000" cy="615553"/>
          </a:xfrm>
          <a:prstGeom prst="rect">
            <a:avLst/>
          </a:prstGeom>
          <a:noFill/>
        </p:spPr>
        <p:txBody>
          <a:bodyPr vert="horz" wrap="square" rtlCol="0" anchor="ctr">
            <a:spAutoFit/>
          </a:bodyPr>
          <a:lstStyle/>
          <a:p>
            <a:r>
              <a:rPr kumimoji="1" lang="ja-JP" altLang="en-US" sz="1700">
                <a:solidFill>
                  <a:srgbClr val="202A38"/>
                </a:solidFill>
                <a:latin typeface="Meiryo UI" panose="020B0604030504040204" pitchFamily="50" charset="-128"/>
              </a:rPr>
              <a:t>たとえば周囲弾はレベルアップで弾数だけでなく、軌道半径や回転速度も変化し、見た目にも制圧力にも差が出る。</a:t>
            </a:r>
          </a:p>
        </p:txBody>
      </p:sp>
      <p:sp>
        <p:nvSpPr>
          <p:cNvPr id="9" name="テキスト ボックス 8">
            <a:extLst>
              <a:ext uri="{FF2B5EF4-FFF2-40B4-BE49-F238E27FC236}">
                <a16:creationId xmlns:a16="http://schemas.microsoft.com/office/drawing/2014/main" id="{E3D2D5ED-3A76-CE34-3C7C-A66C326E3B09}"/>
              </a:ext>
            </a:extLst>
          </p:cNvPr>
          <p:cNvSpPr txBox="1"/>
          <p:nvPr/>
        </p:nvSpPr>
        <p:spPr>
          <a:xfrm>
            <a:off x="1219200" y="3231075"/>
            <a:ext cx="5842000" cy="615553"/>
          </a:xfrm>
          <a:prstGeom prst="rect">
            <a:avLst/>
          </a:prstGeom>
          <a:noFill/>
        </p:spPr>
        <p:txBody>
          <a:bodyPr vert="horz" wrap="square" rtlCol="0" anchor="ctr">
            <a:spAutoFit/>
          </a:bodyPr>
          <a:lstStyle/>
          <a:p>
            <a:r>
              <a:rPr kumimoji="1" lang="ja-JP" altLang="en-US" sz="1700">
                <a:solidFill>
                  <a:srgbClr val="202A38"/>
                </a:solidFill>
                <a:latin typeface="Meiryo UI" panose="020B0604030504040204" pitchFamily="50" charset="-128"/>
              </a:rPr>
              <a:t>この設計により、プレイヤーは「数値が上がった」ではなく「戦い方が変わった」と感じられる。</a:t>
            </a:r>
          </a:p>
        </p:txBody>
      </p:sp>
      <p:sp>
        <p:nvSpPr>
          <p:cNvPr id="10" name="四角形: 角を丸くする 9">
            <a:extLst>
              <a:ext uri="{FF2B5EF4-FFF2-40B4-BE49-F238E27FC236}">
                <a16:creationId xmlns:a16="http://schemas.microsoft.com/office/drawing/2014/main" id="{16E46D9F-7BE5-9739-39CD-8DB53C2B1EDE}"/>
              </a:ext>
            </a:extLst>
          </p:cNvPr>
          <p:cNvSpPr/>
          <p:nvPr/>
        </p:nvSpPr>
        <p:spPr>
          <a:xfrm>
            <a:off x="8509000" y="2095500"/>
            <a:ext cx="2603500" cy="1524000"/>
          </a:xfrm>
          <a:prstGeom prst="roundRect">
            <a:avLst/>
          </a:prstGeom>
          <a:solidFill>
            <a:srgbClr val="EAF0DE"/>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zh-CN" altLang="en-US" sz="1700" b="1">
                <a:solidFill>
                  <a:srgbClr val="202A38"/>
                </a:solidFill>
                <a:latin typeface="Meiryo UI" panose="020B0604030504040204" pitchFamily="50" charset="-128"/>
              </a:rPr>
              <a:t>例</a:t>
            </a:r>
            <a:r>
              <a:rPr kumimoji="1" lang="en-US" altLang="zh-CN" sz="1700" b="1">
                <a:solidFill>
                  <a:srgbClr val="202A38"/>
                </a:solidFill>
                <a:latin typeface="Meiryo UI" panose="020B0604030504040204" pitchFamily="50" charset="-128"/>
              </a:rPr>
              <a:t>: </a:t>
            </a:r>
            <a:r>
              <a:rPr kumimoji="1" lang="zh-CN" altLang="en-US" sz="1700" b="1">
                <a:solidFill>
                  <a:srgbClr val="202A38"/>
                </a:solidFill>
                <a:latin typeface="Meiryo UI" panose="020B0604030504040204" pitchFamily="50" charset="-128"/>
              </a:rPr>
              <a:t>周囲弾
</a:t>
            </a:r>
            <a:r>
              <a:rPr kumimoji="1" lang="en-US" altLang="zh-CN" sz="1700" b="1">
                <a:solidFill>
                  <a:srgbClr val="202A38"/>
                </a:solidFill>
                <a:latin typeface="Meiryo UI" panose="020B0604030504040204" pitchFamily="50" charset="-128"/>
              </a:rPr>
              <a:t>Lv1 </a:t>
            </a:r>
            <a:r>
              <a:rPr kumimoji="1" lang="zh-CN" altLang="en-US" sz="1700" b="1">
                <a:solidFill>
                  <a:srgbClr val="202A38"/>
                </a:solidFill>
                <a:latin typeface="Meiryo UI" panose="020B0604030504040204" pitchFamily="50" charset="-128"/>
              </a:rPr>
              <a:t>弾数 </a:t>
            </a:r>
            <a:r>
              <a:rPr kumimoji="1" lang="en-US" altLang="zh-CN" sz="1700" b="1">
                <a:solidFill>
                  <a:srgbClr val="202A38"/>
                </a:solidFill>
                <a:latin typeface="Meiryo UI" panose="020B0604030504040204" pitchFamily="50" charset="-128"/>
              </a:rPr>
              <a:t>1 / </a:t>
            </a:r>
            <a:r>
              <a:rPr kumimoji="1" lang="zh-CN" altLang="en-US" sz="1700" b="1">
                <a:solidFill>
                  <a:srgbClr val="202A38"/>
                </a:solidFill>
                <a:latin typeface="Meiryo UI" panose="020B0604030504040204" pitchFamily="50" charset="-128"/>
              </a:rPr>
              <a:t>小半径 </a:t>
            </a:r>
            <a:r>
              <a:rPr kumimoji="1" lang="en-US" altLang="zh-CN" sz="1700" b="1">
                <a:solidFill>
                  <a:srgbClr val="202A38"/>
                </a:solidFill>
                <a:latin typeface="Meiryo UI" panose="020B0604030504040204" pitchFamily="50" charset="-128"/>
              </a:rPr>
              <a:t>/ </a:t>
            </a:r>
            <a:r>
              <a:rPr kumimoji="1" lang="zh-CN" altLang="en-US" sz="1700" b="1">
                <a:solidFill>
                  <a:srgbClr val="202A38"/>
                </a:solidFill>
                <a:latin typeface="Meiryo UI" panose="020B0604030504040204" pitchFamily="50" charset="-128"/>
              </a:rPr>
              <a:t>低速回転</a:t>
            </a:r>
            <a:endParaRPr kumimoji="1" lang="ja-JP" altLang="en-US" sz="1700" b="1">
              <a:solidFill>
                <a:srgbClr val="202A38"/>
              </a:solidFill>
              <a:latin typeface="Meiryo UI" panose="020B0604030504040204" pitchFamily="50" charset="-128"/>
            </a:endParaRPr>
          </a:p>
        </p:txBody>
      </p:sp>
      <p:sp>
        <p:nvSpPr>
          <p:cNvPr id="11" name="四角形: 角を丸くする 10">
            <a:extLst>
              <a:ext uri="{FF2B5EF4-FFF2-40B4-BE49-F238E27FC236}">
                <a16:creationId xmlns:a16="http://schemas.microsoft.com/office/drawing/2014/main" id="{C79B63AB-8776-F991-0E96-9B7FC7C88083}"/>
              </a:ext>
            </a:extLst>
          </p:cNvPr>
          <p:cNvSpPr/>
          <p:nvPr/>
        </p:nvSpPr>
        <p:spPr>
          <a:xfrm>
            <a:off x="11493500" y="2095500"/>
            <a:ext cx="2603500" cy="1524000"/>
          </a:xfrm>
          <a:prstGeom prst="roundRect">
            <a:avLst/>
          </a:prstGeom>
          <a:solidFill>
            <a:srgbClr val="F8E8D5"/>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700" b="1">
                <a:solidFill>
                  <a:srgbClr val="202A38"/>
                </a:solidFill>
                <a:latin typeface="Meiryo UI" panose="020B0604030504040204" pitchFamily="50" charset="-128"/>
              </a:rPr>
              <a:t>Lv3-6
</a:t>
            </a:r>
            <a:r>
              <a:rPr kumimoji="1" lang="ja-JP" altLang="en-US" sz="1700" b="1">
                <a:solidFill>
                  <a:srgbClr val="202A38"/>
                </a:solidFill>
                <a:latin typeface="Meiryo UI" panose="020B0604030504040204" pitchFamily="50" charset="-128"/>
              </a:rPr>
              <a:t>半径拡大 </a:t>
            </a:r>
            <a:r>
              <a:rPr kumimoji="1" lang="en-US" altLang="ja-JP" sz="1700" b="1">
                <a:solidFill>
                  <a:srgbClr val="202A38"/>
                </a:solidFill>
                <a:latin typeface="Meiryo UI" panose="020B0604030504040204" pitchFamily="50" charset="-128"/>
              </a:rPr>
              <a:t>/ </a:t>
            </a:r>
            <a:r>
              <a:rPr kumimoji="1" lang="ja-JP" altLang="en-US" sz="1700" b="1">
                <a:solidFill>
                  <a:srgbClr val="202A38"/>
                </a:solidFill>
                <a:latin typeface="Meiryo UI" panose="020B0604030504040204" pitchFamily="50" charset="-128"/>
              </a:rPr>
              <a:t>回転速度上昇 </a:t>
            </a:r>
            <a:r>
              <a:rPr kumimoji="1" lang="en-US" altLang="ja-JP" sz="1700" b="1">
                <a:solidFill>
                  <a:srgbClr val="202A38"/>
                </a:solidFill>
                <a:latin typeface="Meiryo UI" panose="020B0604030504040204" pitchFamily="50" charset="-128"/>
              </a:rPr>
              <a:t>/ </a:t>
            </a:r>
            <a:r>
              <a:rPr kumimoji="1" lang="ja-JP" altLang="en-US" sz="1700" b="1">
                <a:solidFill>
                  <a:srgbClr val="202A38"/>
                </a:solidFill>
                <a:latin typeface="Meiryo UI" panose="020B0604030504040204" pitchFamily="50" charset="-128"/>
              </a:rPr>
              <a:t>見た目の変化</a:t>
            </a:r>
          </a:p>
        </p:txBody>
      </p:sp>
      <p:sp>
        <p:nvSpPr>
          <p:cNvPr id="12" name="四角形: 角を丸くする 11">
            <a:extLst>
              <a:ext uri="{FF2B5EF4-FFF2-40B4-BE49-F238E27FC236}">
                <a16:creationId xmlns:a16="http://schemas.microsoft.com/office/drawing/2014/main" id="{9F01D170-9758-7382-8488-BAC49143A5A5}"/>
              </a:ext>
            </a:extLst>
          </p:cNvPr>
          <p:cNvSpPr/>
          <p:nvPr/>
        </p:nvSpPr>
        <p:spPr>
          <a:xfrm>
            <a:off x="10033000" y="4826000"/>
            <a:ext cx="2603500" cy="1524000"/>
          </a:xfrm>
          <a:prstGeom prst="roundRect">
            <a:avLst/>
          </a:prstGeom>
          <a:solidFill>
            <a:srgbClr val="EBE1F2"/>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700" b="1">
                <a:solidFill>
                  <a:srgbClr val="202A38"/>
                </a:solidFill>
                <a:latin typeface="Meiryo UI" panose="020B0604030504040204" pitchFamily="50" charset="-128"/>
              </a:rPr>
              <a:t>Lv8
</a:t>
            </a:r>
            <a:r>
              <a:rPr kumimoji="1" lang="ja-JP" altLang="en-US" sz="1700" b="1">
                <a:solidFill>
                  <a:srgbClr val="202A38"/>
                </a:solidFill>
                <a:latin typeface="Meiryo UI" panose="020B0604030504040204" pitchFamily="50" charset="-128"/>
              </a:rPr>
              <a:t>弾数増加で範囲制圧力を獲得</a:t>
            </a:r>
          </a:p>
        </p:txBody>
      </p:sp>
      <p:cxnSp>
        <p:nvCxnSpPr>
          <p:cNvPr id="13" name="直線コネクタ 12">
            <a:extLst>
              <a:ext uri="{FF2B5EF4-FFF2-40B4-BE49-F238E27FC236}">
                <a16:creationId xmlns:a16="http://schemas.microsoft.com/office/drawing/2014/main" id="{16278DAB-A66C-B7AC-A8CE-8D683E954C14}"/>
              </a:ext>
            </a:extLst>
          </p:cNvPr>
          <p:cNvCxnSpPr/>
          <p:nvPr/>
        </p:nvCxnSpPr>
        <p:spPr>
          <a:xfrm>
            <a:off x="11112500" y="2857500"/>
            <a:ext cx="381000" cy="0"/>
          </a:xfrm>
          <a:prstGeom prst="line">
            <a:avLst/>
          </a:prstGeom>
          <a:ln>
            <a:solidFill>
              <a:srgbClr val="0D718C"/>
            </a:solidFill>
          </a:ln>
        </p:spPr>
        <p:style>
          <a:lnRef idx="2">
            <a:schemeClr val="accent1"/>
          </a:lnRef>
          <a:fillRef idx="0">
            <a:schemeClr val="accent1"/>
          </a:fillRef>
          <a:effectRef idx="1">
            <a:schemeClr val="accent1"/>
          </a:effectRef>
          <a:fontRef idx="minor">
            <a:schemeClr val="tx1"/>
          </a:fontRef>
        </p:style>
      </p:cxnSp>
      <p:cxnSp>
        <p:nvCxnSpPr>
          <p:cNvPr id="14" name="直線コネクタ 13">
            <a:extLst>
              <a:ext uri="{FF2B5EF4-FFF2-40B4-BE49-F238E27FC236}">
                <a16:creationId xmlns:a16="http://schemas.microsoft.com/office/drawing/2014/main" id="{BA9149B1-90D2-05E7-523E-139A5D2A0C33}"/>
              </a:ext>
            </a:extLst>
          </p:cNvPr>
          <p:cNvCxnSpPr/>
          <p:nvPr/>
        </p:nvCxnSpPr>
        <p:spPr>
          <a:xfrm flipH="1">
            <a:off x="11430000" y="3619500"/>
            <a:ext cx="1333500" cy="1206500"/>
          </a:xfrm>
          <a:prstGeom prst="line">
            <a:avLst/>
          </a:prstGeom>
          <a:ln>
            <a:solidFill>
              <a:srgbClr val="0D718C"/>
            </a:solidFill>
          </a:ln>
        </p:spPr>
        <p:style>
          <a:lnRef idx="2">
            <a:schemeClr val="accent1"/>
          </a:lnRef>
          <a:fillRef idx="0">
            <a:schemeClr val="accent1"/>
          </a:fillRef>
          <a:effectRef idx="1">
            <a:schemeClr val="accent1"/>
          </a:effectRef>
          <a:fontRef idx="minor">
            <a:schemeClr val="tx1"/>
          </a:fontRef>
        </p:style>
      </p:cxnSp>
      <p:cxnSp>
        <p:nvCxnSpPr>
          <p:cNvPr id="15" name="直線コネクタ 14">
            <a:extLst>
              <a:ext uri="{FF2B5EF4-FFF2-40B4-BE49-F238E27FC236}">
                <a16:creationId xmlns:a16="http://schemas.microsoft.com/office/drawing/2014/main" id="{520A9A82-3A33-0E61-1B71-E92152F2BF49}"/>
              </a:ext>
            </a:extLst>
          </p:cNvPr>
          <p:cNvCxnSpPr/>
          <p:nvPr/>
        </p:nvCxnSpPr>
        <p:spPr>
          <a:xfrm>
            <a:off x="9842500" y="3619500"/>
            <a:ext cx="1079500" cy="1206500"/>
          </a:xfrm>
          <a:prstGeom prst="line">
            <a:avLst/>
          </a:prstGeom>
          <a:ln>
            <a:solidFill>
              <a:srgbClr val="0D7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16432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4121345B-E1A4-F85F-847E-C8DCDFC3C446}"/>
              </a:ext>
            </a:extLst>
          </p:cNvPr>
          <p:cNvSpPr/>
          <p:nvPr/>
        </p:nvSpPr>
        <p:spPr>
          <a:xfrm>
            <a:off x="609600" y="609600"/>
            <a:ext cx="15036800" cy="7924800"/>
          </a:xfrm>
          <a:prstGeom prst="rect">
            <a:avLst/>
          </a:prstGeom>
          <a:solidFill>
            <a:srgbClr val="E8EDF3"/>
          </a:solidFill>
          <a:ln w="15875">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391C9B6F-2E57-7D0B-CEE2-68B756F2CC51}"/>
              </a:ext>
            </a:extLst>
          </p:cNvPr>
          <p:cNvSpPr/>
          <p:nvPr/>
        </p:nvSpPr>
        <p:spPr>
          <a:xfrm>
            <a:off x="914400" y="1371600"/>
            <a:ext cx="6604000" cy="6604000"/>
          </a:xfrm>
          <a:prstGeom prst="rect">
            <a:avLst/>
          </a:prstGeom>
          <a:solidFill>
            <a:srgbClr val="FFFFFF"/>
          </a:solidFill>
          <a:ln w="15875">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FB355B24-F5E7-260B-36D2-5DA869F39638}"/>
              </a:ext>
            </a:extLst>
          </p:cNvPr>
          <p:cNvSpPr/>
          <p:nvPr/>
        </p:nvSpPr>
        <p:spPr>
          <a:xfrm>
            <a:off x="7975600" y="1371600"/>
            <a:ext cx="7366000" cy="6604000"/>
          </a:xfrm>
          <a:prstGeom prst="rect">
            <a:avLst/>
          </a:prstGeom>
          <a:solidFill>
            <a:srgbClr val="FFFFFF"/>
          </a:solidFill>
          <a:ln w="15875">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ADFE22AF-27D0-5AB8-4B33-C255663E1BBF}"/>
              </a:ext>
            </a:extLst>
          </p:cNvPr>
          <p:cNvSpPr/>
          <p:nvPr/>
        </p:nvSpPr>
        <p:spPr>
          <a:xfrm>
            <a:off x="914400" y="787400"/>
            <a:ext cx="1473200" cy="381000"/>
          </a:xfrm>
          <a:prstGeom prst="roundRect">
            <a:avLst/>
          </a:prstGeom>
          <a:solidFill>
            <a:srgbClr val="0D718C"/>
          </a:solidFill>
          <a:ln w="12700">
            <a:solidFill>
              <a:srgbClr val="0D71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400" b="1">
                <a:solidFill>
                  <a:srgbClr val="FFFFFF"/>
                </a:solidFill>
                <a:latin typeface="Meiryo UI" panose="020B0604030504040204" pitchFamily="50" charset="-128"/>
              </a:rPr>
              <a:t>SUPPORT</a:t>
            </a:r>
            <a:endParaRPr kumimoji="1" lang="ja-JP" altLang="en-US" sz="1400" b="1">
              <a:solidFill>
                <a:srgbClr val="FFFFFF"/>
              </a:solidFill>
              <a:latin typeface="Meiryo UI" panose="020B0604030504040204" pitchFamily="50" charset="-128"/>
            </a:endParaRPr>
          </a:p>
        </p:txBody>
      </p:sp>
      <p:sp>
        <p:nvSpPr>
          <p:cNvPr id="6" name="テキスト ボックス 5">
            <a:extLst>
              <a:ext uri="{FF2B5EF4-FFF2-40B4-BE49-F238E27FC236}">
                <a16:creationId xmlns:a16="http://schemas.microsoft.com/office/drawing/2014/main" id="{093F3C1C-07F0-0644-282D-AF9F3E53FCA0}"/>
              </a:ext>
            </a:extLst>
          </p:cNvPr>
          <p:cNvSpPr txBox="1"/>
          <p:nvPr/>
        </p:nvSpPr>
        <p:spPr>
          <a:xfrm>
            <a:off x="2603500" y="685377"/>
            <a:ext cx="7112000" cy="461665"/>
          </a:xfrm>
          <a:prstGeom prst="rect">
            <a:avLst/>
          </a:prstGeom>
          <a:noFill/>
        </p:spPr>
        <p:txBody>
          <a:bodyPr vert="horz" wrap="square" rtlCol="0" anchor="ctr">
            <a:spAutoFit/>
          </a:bodyPr>
          <a:lstStyle/>
          <a:p>
            <a:r>
              <a:rPr kumimoji="1" lang="ja-JP" altLang="en-US" sz="2400" b="1">
                <a:solidFill>
                  <a:srgbClr val="202A38"/>
                </a:solidFill>
                <a:latin typeface="Yu Gothic UI Semibold" panose="020B0700000000000000" pitchFamily="50" charset="-128"/>
              </a:rPr>
              <a:t>補助</a:t>
            </a:r>
            <a:r>
              <a:rPr kumimoji="1" lang="en-US" altLang="ja-JP" sz="2400" b="1">
                <a:solidFill>
                  <a:srgbClr val="202A38"/>
                </a:solidFill>
                <a:latin typeface="Yu Gothic UI Semibold" panose="020B0700000000000000" pitchFamily="50" charset="-128"/>
              </a:rPr>
              <a:t>: </a:t>
            </a:r>
            <a:r>
              <a:rPr kumimoji="1" lang="ja-JP" altLang="en-US" sz="2400" b="1">
                <a:solidFill>
                  <a:srgbClr val="202A38"/>
                </a:solidFill>
                <a:latin typeface="Yu Gothic UI Semibold" panose="020B0700000000000000" pitchFamily="50" charset="-128"/>
              </a:rPr>
              <a:t>主軸を支える実装</a:t>
            </a:r>
          </a:p>
        </p:txBody>
      </p:sp>
      <p:sp>
        <p:nvSpPr>
          <p:cNvPr id="7" name="テキスト ボックス 6">
            <a:extLst>
              <a:ext uri="{FF2B5EF4-FFF2-40B4-BE49-F238E27FC236}">
                <a16:creationId xmlns:a16="http://schemas.microsoft.com/office/drawing/2014/main" id="{242B8AE6-3F6D-620A-80BE-4252EE579B2C}"/>
              </a:ext>
            </a:extLst>
          </p:cNvPr>
          <p:cNvSpPr txBox="1"/>
          <p:nvPr/>
        </p:nvSpPr>
        <p:spPr>
          <a:xfrm>
            <a:off x="1219200" y="1627070"/>
            <a:ext cx="5842000" cy="877163"/>
          </a:xfrm>
          <a:prstGeom prst="rect">
            <a:avLst/>
          </a:prstGeom>
          <a:noFill/>
        </p:spPr>
        <p:txBody>
          <a:bodyPr vert="horz" wrap="square" rtlCol="0" anchor="ctr">
            <a:spAutoFit/>
          </a:bodyPr>
          <a:lstStyle/>
          <a:p>
            <a:r>
              <a:rPr kumimoji="1" lang="ja-JP" altLang="en-US" sz="1700">
                <a:solidFill>
                  <a:srgbClr val="202A38"/>
                </a:solidFill>
                <a:latin typeface="Meiryo UI" panose="020B0604030504040204" pitchFamily="50" charset="-128"/>
              </a:rPr>
              <a:t>武器システムを成立させるために、</a:t>
            </a:r>
            <a:r>
              <a:rPr kumimoji="1" lang="en-US" altLang="ja-JP" sz="1700">
                <a:solidFill>
                  <a:srgbClr val="202A38"/>
                </a:solidFill>
                <a:latin typeface="Meiryo UI" panose="020B0604030504040204" pitchFamily="50" charset="-128"/>
              </a:rPr>
              <a:t>GameScene </a:t>
            </a:r>
            <a:r>
              <a:rPr kumimoji="1" lang="ja-JP" altLang="en-US" sz="1700">
                <a:solidFill>
                  <a:srgbClr val="202A38"/>
                </a:solidFill>
                <a:latin typeface="Meiryo UI" panose="020B0604030504040204" pitchFamily="50" charset="-128"/>
              </a:rPr>
              <a:t>では開始演出、通常進行、レベルアップ、ポーズ、死亡を状態ごとに分けて更新している。</a:t>
            </a:r>
          </a:p>
        </p:txBody>
      </p:sp>
      <p:sp>
        <p:nvSpPr>
          <p:cNvPr id="8" name="テキスト ボックス 7">
            <a:extLst>
              <a:ext uri="{FF2B5EF4-FFF2-40B4-BE49-F238E27FC236}">
                <a16:creationId xmlns:a16="http://schemas.microsoft.com/office/drawing/2014/main" id="{942E05EA-B6C7-C9BC-E6EC-9B56C9368FB1}"/>
              </a:ext>
            </a:extLst>
          </p:cNvPr>
          <p:cNvSpPr txBox="1"/>
          <p:nvPr/>
        </p:nvSpPr>
        <p:spPr>
          <a:xfrm>
            <a:off x="1219200" y="2494475"/>
            <a:ext cx="5842000" cy="615553"/>
          </a:xfrm>
          <a:prstGeom prst="rect">
            <a:avLst/>
          </a:prstGeom>
          <a:noFill/>
        </p:spPr>
        <p:txBody>
          <a:bodyPr vert="horz" wrap="square" rtlCol="0" anchor="ctr">
            <a:spAutoFit/>
          </a:bodyPr>
          <a:lstStyle/>
          <a:p>
            <a:r>
              <a:rPr kumimoji="1" lang="en-US" altLang="ja-JP" sz="1700">
                <a:solidFill>
                  <a:srgbClr val="202A38"/>
                </a:solidFill>
                <a:latin typeface="Meiryo UI" panose="020B0604030504040204" pitchFamily="50" charset="-128"/>
              </a:rPr>
              <a:t>EnemyManager </a:t>
            </a:r>
            <a:r>
              <a:rPr kumimoji="1" lang="ja-JP" altLang="en-US" sz="1700">
                <a:solidFill>
                  <a:srgbClr val="202A38"/>
                </a:solidFill>
                <a:latin typeface="Meiryo UI" panose="020B0604030504040204" pitchFamily="50" charset="-128"/>
              </a:rPr>
              <a:t>では敵管理と当たり判定を集約し、近傍探索を使って武器ごとの衝突判定を処理している。</a:t>
            </a:r>
          </a:p>
        </p:txBody>
      </p:sp>
      <p:sp>
        <p:nvSpPr>
          <p:cNvPr id="9" name="テキスト ボックス 8">
            <a:extLst>
              <a:ext uri="{FF2B5EF4-FFF2-40B4-BE49-F238E27FC236}">
                <a16:creationId xmlns:a16="http://schemas.microsoft.com/office/drawing/2014/main" id="{9792E810-3D19-9ADA-1D82-58CB99EF157B}"/>
              </a:ext>
            </a:extLst>
          </p:cNvPr>
          <p:cNvSpPr txBox="1"/>
          <p:nvPr/>
        </p:nvSpPr>
        <p:spPr>
          <a:xfrm>
            <a:off x="1219200" y="3231075"/>
            <a:ext cx="5842000" cy="615553"/>
          </a:xfrm>
          <a:prstGeom prst="rect">
            <a:avLst/>
          </a:prstGeom>
          <a:noFill/>
        </p:spPr>
        <p:txBody>
          <a:bodyPr vert="horz" wrap="square" rtlCol="0" anchor="ctr">
            <a:spAutoFit/>
          </a:bodyPr>
          <a:lstStyle/>
          <a:p>
            <a:r>
              <a:rPr kumimoji="1" lang="ja-JP" altLang="en-US" sz="1700">
                <a:solidFill>
                  <a:srgbClr val="202A38"/>
                </a:solidFill>
                <a:latin typeface="Meiryo UI" panose="020B0604030504040204" pitchFamily="50" charset="-128"/>
              </a:rPr>
              <a:t>さらに </a:t>
            </a:r>
            <a:r>
              <a:rPr kumimoji="1" lang="en-US" altLang="ja-JP" sz="1700">
                <a:solidFill>
                  <a:srgbClr val="202A38"/>
                </a:solidFill>
                <a:latin typeface="Meiryo UI" panose="020B0604030504040204" pitchFamily="50" charset="-128"/>
              </a:rPr>
              <a:t>CSV </a:t>
            </a:r>
            <a:r>
              <a:rPr kumimoji="1" lang="ja-JP" altLang="en-US" sz="1700">
                <a:solidFill>
                  <a:srgbClr val="202A38"/>
                </a:solidFill>
                <a:latin typeface="Meiryo UI" panose="020B0604030504040204" pitchFamily="50" charset="-128"/>
              </a:rPr>
              <a:t>と </a:t>
            </a:r>
            <a:r>
              <a:rPr kumimoji="1" lang="en-US" altLang="ja-JP" sz="1700">
                <a:solidFill>
                  <a:srgbClr val="202A38"/>
                </a:solidFill>
                <a:latin typeface="Meiryo UI" panose="020B0604030504040204" pitchFamily="50" charset="-128"/>
              </a:rPr>
              <a:t>UI </a:t>
            </a:r>
            <a:r>
              <a:rPr kumimoji="1" lang="ja-JP" altLang="en-US" sz="1700">
                <a:solidFill>
                  <a:srgbClr val="202A38"/>
                </a:solidFill>
                <a:latin typeface="Meiryo UI" panose="020B0604030504040204" pitchFamily="50" charset="-128"/>
              </a:rPr>
              <a:t>レイアウト保存機構を使い、武器パラメータや表示を後から調整しやすくしている。</a:t>
            </a:r>
          </a:p>
        </p:txBody>
      </p:sp>
      <p:sp>
        <p:nvSpPr>
          <p:cNvPr id="10" name="四角形: 角を丸くする 9">
            <a:extLst>
              <a:ext uri="{FF2B5EF4-FFF2-40B4-BE49-F238E27FC236}">
                <a16:creationId xmlns:a16="http://schemas.microsoft.com/office/drawing/2014/main" id="{9B9E614C-CBCB-8518-A868-D1352DD6197C}"/>
              </a:ext>
            </a:extLst>
          </p:cNvPr>
          <p:cNvSpPr/>
          <p:nvPr/>
        </p:nvSpPr>
        <p:spPr>
          <a:xfrm>
            <a:off x="8636000" y="1905000"/>
            <a:ext cx="2794000" cy="1016000"/>
          </a:xfrm>
          <a:prstGeom prst="roundRect">
            <a:avLst/>
          </a:prstGeom>
          <a:solidFill>
            <a:srgbClr val="EAF0DE"/>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700" b="1">
                <a:solidFill>
                  <a:srgbClr val="202A38"/>
                </a:solidFill>
                <a:latin typeface="Meiryo UI" panose="020B0604030504040204" pitchFamily="50" charset="-128"/>
              </a:rPr>
              <a:t>GameScene
LevelUp / Pause / Death </a:t>
            </a:r>
            <a:r>
              <a:rPr kumimoji="1" lang="ja-JP" altLang="en-US" sz="1700" b="1">
                <a:solidFill>
                  <a:srgbClr val="202A38"/>
                </a:solidFill>
                <a:latin typeface="Meiryo UI" panose="020B0604030504040204" pitchFamily="50" charset="-128"/>
              </a:rPr>
              <a:t>を状態管理</a:t>
            </a:r>
          </a:p>
        </p:txBody>
      </p:sp>
      <p:sp>
        <p:nvSpPr>
          <p:cNvPr id="11" name="四角形: 角を丸くする 10">
            <a:extLst>
              <a:ext uri="{FF2B5EF4-FFF2-40B4-BE49-F238E27FC236}">
                <a16:creationId xmlns:a16="http://schemas.microsoft.com/office/drawing/2014/main" id="{BF02B7F0-198F-5064-0574-EEADF819CB25}"/>
              </a:ext>
            </a:extLst>
          </p:cNvPr>
          <p:cNvSpPr/>
          <p:nvPr/>
        </p:nvSpPr>
        <p:spPr>
          <a:xfrm>
            <a:off x="12128500" y="1905000"/>
            <a:ext cx="2794000" cy="1016000"/>
          </a:xfrm>
          <a:prstGeom prst="roundRect">
            <a:avLst/>
          </a:prstGeom>
          <a:solidFill>
            <a:srgbClr val="F8E8D5"/>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700" b="1">
                <a:solidFill>
                  <a:srgbClr val="202A38"/>
                </a:solidFill>
                <a:latin typeface="Meiryo UI" panose="020B0604030504040204" pitchFamily="50" charset="-128"/>
              </a:rPr>
              <a:t>EnemyManager
</a:t>
            </a:r>
            <a:r>
              <a:rPr kumimoji="1" lang="ja-JP" altLang="en-US" sz="1700" b="1">
                <a:solidFill>
                  <a:srgbClr val="202A38"/>
                </a:solidFill>
                <a:latin typeface="Meiryo UI" panose="020B0604030504040204" pitchFamily="50" charset="-128"/>
              </a:rPr>
              <a:t>空間分割で当たり判定を集約</a:t>
            </a:r>
          </a:p>
        </p:txBody>
      </p:sp>
      <p:sp>
        <p:nvSpPr>
          <p:cNvPr id="12" name="四角形: 角を丸くする 11">
            <a:extLst>
              <a:ext uri="{FF2B5EF4-FFF2-40B4-BE49-F238E27FC236}">
                <a16:creationId xmlns:a16="http://schemas.microsoft.com/office/drawing/2014/main" id="{4D53D82E-92B8-8A6C-1B0F-6FC871D9D57E}"/>
              </a:ext>
            </a:extLst>
          </p:cNvPr>
          <p:cNvSpPr/>
          <p:nvPr/>
        </p:nvSpPr>
        <p:spPr>
          <a:xfrm>
            <a:off x="10350500" y="4445000"/>
            <a:ext cx="2794000" cy="1016000"/>
          </a:xfrm>
          <a:prstGeom prst="roundRect">
            <a:avLst/>
          </a:prstGeom>
          <a:solidFill>
            <a:srgbClr val="EBE1F2"/>
          </a:solidFill>
          <a:ln w="12700">
            <a:solidFill>
              <a:srgbClr val="B9C4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700" b="1">
                <a:solidFill>
                  <a:srgbClr val="202A38"/>
                </a:solidFill>
                <a:latin typeface="Meiryo UI" panose="020B0604030504040204" pitchFamily="50" charset="-128"/>
              </a:rPr>
              <a:t>CSV / UI Layout
</a:t>
            </a:r>
            <a:r>
              <a:rPr kumimoji="1" lang="ja-JP" altLang="en-US" sz="1700" b="1">
                <a:solidFill>
                  <a:srgbClr val="202A38"/>
                </a:solidFill>
                <a:latin typeface="Meiryo UI" panose="020B0604030504040204" pitchFamily="50" charset="-128"/>
              </a:rPr>
              <a:t>武器と </a:t>
            </a:r>
            <a:r>
              <a:rPr kumimoji="1" lang="en-US" altLang="ja-JP" sz="1700" b="1">
                <a:solidFill>
                  <a:srgbClr val="202A38"/>
                </a:solidFill>
                <a:latin typeface="Meiryo UI" panose="020B0604030504040204" pitchFamily="50" charset="-128"/>
              </a:rPr>
              <a:t>UI </a:t>
            </a:r>
            <a:r>
              <a:rPr kumimoji="1" lang="ja-JP" altLang="en-US" sz="1700" b="1">
                <a:solidFill>
                  <a:srgbClr val="202A38"/>
                </a:solidFill>
                <a:latin typeface="Meiryo UI" panose="020B0604030504040204" pitchFamily="50" charset="-128"/>
              </a:rPr>
              <a:t>の調整を外部化</a:t>
            </a:r>
          </a:p>
        </p:txBody>
      </p:sp>
      <p:cxnSp>
        <p:nvCxnSpPr>
          <p:cNvPr id="13" name="直線コネクタ 12">
            <a:extLst>
              <a:ext uri="{FF2B5EF4-FFF2-40B4-BE49-F238E27FC236}">
                <a16:creationId xmlns:a16="http://schemas.microsoft.com/office/drawing/2014/main" id="{76BC16FB-BA37-2368-F571-D0B9E1B83814}"/>
              </a:ext>
            </a:extLst>
          </p:cNvPr>
          <p:cNvCxnSpPr/>
          <p:nvPr/>
        </p:nvCxnSpPr>
        <p:spPr>
          <a:xfrm>
            <a:off x="10033000" y="2921000"/>
            <a:ext cx="1206500" cy="1524000"/>
          </a:xfrm>
          <a:prstGeom prst="line">
            <a:avLst/>
          </a:prstGeom>
          <a:ln>
            <a:solidFill>
              <a:srgbClr val="0D718C"/>
            </a:solidFill>
          </a:ln>
        </p:spPr>
        <p:style>
          <a:lnRef idx="2">
            <a:schemeClr val="accent1"/>
          </a:lnRef>
          <a:fillRef idx="0">
            <a:schemeClr val="accent1"/>
          </a:fillRef>
          <a:effectRef idx="1">
            <a:schemeClr val="accent1"/>
          </a:effectRef>
          <a:fontRef idx="minor">
            <a:schemeClr val="tx1"/>
          </a:fontRef>
        </p:style>
      </p:cxnSp>
      <p:cxnSp>
        <p:nvCxnSpPr>
          <p:cNvPr id="14" name="直線コネクタ 13">
            <a:extLst>
              <a:ext uri="{FF2B5EF4-FFF2-40B4-BE49-F238E27FC236}">
                <a16:creationId xmlns:a16="http://schemas.microsoft.com/office/drawing/2014/main" id="{9085A371-6E83-8C41-A6D9-935A5EA81E42}"/>
              </a:ext>
            </a:extLst>
          </p:cNvPr>
          <p:cNvCxnSpPr/>
          <p:nvPr/>
        </p:nvCxnSpPr>
        <p:spPr>
          <a:xfrm flipH="1">
            <a:off x="12255500" y="2921000"/>
            <a:ext cx="1270000" cy="1524000"/>
          </a:xfrm>
          <a:prstGeom prst="line">
            <a:avLst/>
          </a:prstGeom>
          <a:ln>
            <a:solidFill>
              <a:srgbClr val="0D7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686032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777</Words>
  <Application>Microsoft Office PowerPoint</Application>
  <PresentationFormat>画面に合わせる (16:10)</PresentationFormat>
  <Paragraphs>76</Paragraphs>
  <Slides>8</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8</vt:i4>
      </vt:variant>
    </vt:vector>
  </HeadingPairs>
  <TitlesOfParts>
    <vt:vector size="14" baseType="lpstr">
      <vt:lpstr>Meiryo UI</vt:lpstr>
      <vt:lpstr>Yu Gothic UI Semibold</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大久保 拓</dc:creator>
  <cp:lastModifiedBy>大久保 拓</cp:lastModifiedBy>
  <cp:revision>1</cp:revision>
  <dcterms:created xsi:type="dcterms:W3CDTF">2026-04-16T02:39:15Z</dcterms:created>
  <dcterms:modified xsi:type="dcterms:W3CDTF">2026-04-16T02:39:15Z</dcterms:modified>
</cp:coreProperties>
</file>